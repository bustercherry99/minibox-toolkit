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2"/>
    <p:sldId id="277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9" r:id="rId11"/>
    <p:sldId id="290" r:id="rId12"/>
    <p:sldId id="291" r:id="rId13"/>
    <p:sldId id="292" r:id="rId14"/>
    <p:sldId id="27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9" d="100"/>
          <a:sy n="99" d="100"/>
        </p:scale>
        <p:origin x="114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7380C0-A0BE-4FDF-9135-2726F79C9416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FBAA0C7-AC2D-4C47-B40F-752CEF8426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This presentation is for learning and staff training purposes only.</a:t>
          </a:r>
          <a:endParaRPr lang="en-US"/>
        </a:p>
      </dgm:t>
    </dgm:pt>
    <dgm:pt modelId="{48796879-E498-490C-868B-7E6A49C8EA55}" type="parTrans" cxnId="{C7C91CE6-7DFA-4B86-AB1F-57DEE2989101}">
      <dgm:prSet/>
      <dgm:spPr/>
      <dgm:t>
        <a:bodyPr/>
        <a:lstStyle/>
        <a:p>
          <a:endParaRPr lang="en-US"/>
        </a:p>
      </dgm:t>
    </dgm:pt>
    <dgm:pt modelId="{F70A8598-9813-42DA-9374-8D718B358D97}" type="sibTrans" cxnId="{C7C91CE6-7DFA-4B86-AB1F-57DEE2989101}">
      <dgm:prSet/>
      <dgm:spPr/>
      <dgm:t>
        <a:bodyPr/>
        <a:lstStyle/>
        <a:p>
          <a:endParaRPr lang="en-US"/>
        </a:p>
      </dgm:t>
    </dgm:pt>
    <dgm:pt modelId="{C410C7C4-11AA-4284-919B-74E0C12BE7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Do not rely solely on this PowerPoint for clinical decision-making, diagnosis, treatment, or patient management. Always follow current clinical guidelines, provider orders, facility policy, and applicable regulatory requirements.</a:t>
          </a:r>
          <a:endParaRPr lang="en-US"/>
        </a:p>
      </dgm:t>
    </dgm:pt>
    <dgm:pt modelId="{01CE3841-F65B-4810-8F19-6E7079A4399F}" type="parTrans" cxnId="{70005AE3-90AB-403D-8F23-72FF5065CA50}">
      <dgm:prSet/>
      <dgm:spPr/>
      <dgm:t>
        <a:bodyPr/>
        <a:lstStyle/>
        <a:p>
          <a:endParaRPr lang="en-US"/>
        </a:p>
      </dgm:t>
    </dgm:pt>
    <dgm:pt modelId="{D1646CBD-0E39-4C63-8015-33E926B3DD50}" type="sibTrans" cxnId="{70005AE3-90AB-403D-8F23-72FF5065CA50}">
      <dgm:prSet/>
      <dgm:spPr/>
      <dgm:t>
        <a:bodyPr/>
        <a:lstStyle/>
        <a:p>
          <a:endParaRPr lang="en-US"/>
        </a:p>
      </dgm:t>
    </dgm:pt>
    <dgm:pt modelId="{91A755CD-7E1B-43EC-87E4-CF3BC647E8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PulmOne USA Inc. does not own, claim credit for, or represent ownership of third-party clinical information, screenshots, references, or source material included in this training.</a:t>
          </a:r>
          <a:endParaRPr lang="en-US"/>
        </a:p>
      </dgm:t>
    </dgm:pt>
    <dgm:pt modelId="{05B60C56-AE25-4187-9D95-B4B443F9F4D5}" type="parTrans" cxnId="{3BD4A8C2-ADCF-41D8-95F4-335DA8EB5435}">
      <dgm:prSet/>
      <dgm:spPr/>
      <dgm:t>
        <a:bodyPr/>
        <a:lstStyle/>
        <a:p>
          <a:endParaRPr lang="en-US"/>
        </a:p>
      </dgm:t>
    </dgm:pt>
    <dgm:pt modelId="{B9029A87-E44F-4A4E-B202-4ED2C9E60B80}" type="sibTrans" cxnId="{3BD4A8C2-ADCF-41D8-95F4-335DA8EB5435}">
      <dgm:prSet/>
      <dgm:spPr/>
      <dgm:t>
        <a:bodyPr/>
        <a:lstStyle/>
        <a:p>
          <a:endParaRPr lang="en-US"/>
        </a:p>
      </dgm:t>
    </dgm:pt>
    <dgm:pt modelId="{F5F3B37B-B570-4513-9964-2824E4817E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Do not copy, publish, distribute, or share this presentation or its source materials outside the intended training audience without proper authorization or permission from the applicable rights holders.</a:t>
          </a:r>
          <a:endParaRPr lang="en-US"/>
        </a:p>
      </dgm:t>
    </dgm:pt>
    <dgm:pt modelId="{47611E6E-2872-4715-9DAE-F6486C8BC7C8}" type="parTrans" cxnId="{003D1B2C-A1AE-423A-A481-F5E81A5D8CE8}">
      <dgm:prSet/>
      <dgm:spPr/>
      <dgm:t>
        <a:bodyPr/>
        <a:lstStyle/>
        <a:p>
          <a:endParaRPr lang="en-US"/>
        </a:p>
      </dgm:t>
    </dgm:pt>
    <dgm:pt modelId="{BE20696A-6308-46E2-BB13-D5FA5011F9CB}" type="sibTrans" cxnId="{003D1B2C-A1AE-423A-A481-F5E81A5D8CE8}">
      <dgm:prSet/>
      <dgm:spPr/>
      <dgm:t>
        <a:bodyPr/>
        <a:lstStyle/>
        <a:p>
          <a:endParaRPr lang="en-US"/>
        </a:p>
      </dgm:t>
    </dgm:pt>
    <dgm:pt modelId="{2E8960D7-43EA-4977-BB75-D6682B3AB8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Any third-party material is included only as limited educational reference content and should not be used for marketing, commercial distribution, or public posting.</a:t>
          </a:r>
          <a:endParaRPr lang="en-US"/>
        </a:p>
      </dgm:t>
    </dgm:pt>
    <dgm:pt modelId="{0B73636C-2CE4-4C1F-A0D4-2702515A4B2D}" type="parTrans" cxnId="{E0606C9B-643A-4E7F-B75D-8FB48F43335C}">
      <dgm:prSet/>
      <dgm:spPr/>
      <dgm:t>
        <a:bodyPr/>
        <a:lstStyle/>
        <a:p>
          <a:endParaRPr lang="en-US"/>
        </a:p>
      </dgm:t>
    </dgm:pt>
    <dgm:pt modelId="{37A27901-D272-444D-81CF-6E1F389E41F2}" type="sibTrans" cxnId="{E0606C9B-643A-4E7F-B75D-8FB48F43335C}">
      <dgm:prSet/>
      <dgm:spPr/>
      <dgm:t>
        <a:bodyPr/>
        <a:lstStyle/>
        <a:p>
          <a:endParaRPr lang="en-US"/>
        </a:p>
      </dgm:t>
    </dgm:pt>
    <dgm:pt modelId="{F60CDB5C-BE03-4B70-928F-0A27B89700A2}" type="pres">
      <dgm:prSet presAssocID="{7C7380C0-A0BE-4FDF-9135-2726F79C9416}" presName="root" presStyleCnt="0">
        <dgm:presLayoutVars>
          <dgm:dir/>
          <dgm:resizeHandles val="exact"/>
        </dgm:presLayoutVars>
      </dgm:prSet>
      <dgm:spPr/>
    </dgm:pt>
    <dgm:pt modelId="{DC0E5853-0356-4454-9DF9-203ADB193947}" type="pres">
      <dgm:prSet presAssocID="{2FBAA0C7-AC2D-4C47-B40F-752CEF8426C7}" presName="compNode" presStyleCnt="0"/>
      <dgm:spPr/>
    </dgm:pt>
    <dgm:pt modelId="{75420D24-420B-4BB8-970B-A09221815A90}" type="pres">
      <dgm:prSet presAssocID="{2FBAA0C7-AC2D-4C47-B40F-752CEF8426C7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21B7C1F6-8D6C-4E16-88EA-608654BC6990}" type="pres">
      <dgm:prSet presAssocID="{2FBAA0C7-AC2D-4C47-B40F-752CEF8426C7}" presName="spaceRect" presStyleCnt="0"/>
      <dgm:spPr/>
    </dgm:pt>
    <dgm:pt modelId="{237B7133-A737-4E9F-8C9A-30DD89329D67}" type="pres">
      <dgm:prSet presAssocID="{2FBAA0C7-AC2D-4C47-B40F-752CEF8426C7}" presName="textRect" presStyleLbl="revTx" presStyleIdx="0" presStyleCnt="5">
        <dgm:presLayoutVars>
          <dgm:chMax val="1"/>
          <dgm:chPref val="1"/>
        </dgm:presLayoutVars>
      </dgm:prSet>
      <dgm:spPr/>
    </dgm:pt>
    <dgm:pt modelId="{88461C7D-9EC4-4C75-B447-8D667B96EF7D}" type="pres">
      <dgm:prSet presAssocID="{F70A8598-9813-42DA-9374-8D718B358D97}" presName="sibTrans" presStyleCnt="0"/>
      <dgm:spPr/>
    </dgm:pt>
    <dgm:pt modelId="{6B18B482-82B6-402B-8197-F24DE09C0A1C}" type="pres">
      <dgm:prSet presAssocID="{C410C7C4-11AA-4284-919B-74E0C12BE7AE}" presName="compNode" presStyleCnt="0"/>
      <dgm:spPr/>
    </dgm:pt>
    <dgm:pt modelId="{F07336F9-3B06-4034-BF91-351F4134A206}" type="pres">
      <dgm:prSet presAssocID="{C410C7C4-11AA-4284-919B-74E0C12BE7AE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18C0B252-4B34-40F2-85B8-0F592825990D}" type="pres">
      <dgm:prSet presAssocID="{C410C7C4-11AA-4284-919B-74E0C12BE7AE}" presName="spaceRect" presStyleCnt="0"/>
      <dgm:spPr/>
    </dgm:pt>
    <dgm:pt modelId="{14948E07-159E-4A9D-9850-BB73F6014125}" type="pres">
      <dgm:prSet presAssocID="{C410C7C4-11AA-4284-919B-74E0C12BE7AE}" presName="textRect" presStyleLbl="revTx" presStyleIdx="1" presStyleCnt="5">
        <dgm:presLayoutVars>
          <dgm:chMax val="1"/>
          <dgm:chPref val="1"/>
        </dgm:presLayoutVars>
      </dgm:prSet>
      <dgm:spPr/>
    </dgm:pt>
    <dgm:pt modelId="{8328F85E-BD16-469D-B0B8-33EDEACA97A9}" type="pres">
      <dgm:prSet presAssocID="{D1646CBD-0E39-4C63-8015-33E926B3DD50}" presName="sibTrans" presStyleCnt="0"/>
      <dgm:spPr/>
    </dgm:pt>
    <dgm:pt modelId="{9B8DCBAB-317F-4B07-A396-A6F3363A9EB7}" type="pres">
      <dgm:prSet presAssocID="{91A755CD-7E1B-43EC-87E4-CF3BC647E864}" presName="compNode" presStyleCnt="0"/>
      <dgm:spPr/>
    </dgm:pt>
    <dgm:pt modelId="{844C9D3E-BC03-4E40-9B96-6A3C32E2E6D5}" type="pres">
      <dgm:prSet presAssocID="{91A755CD-7E1B-43EC-87E4-CF3BC647E864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42F50868-865C-4659-9FF6-58AFB705F473}" type="pres">
      <dgm:prSet presAssocID="{91A755CD-7E1B-43EC-87E4-CF3BC647E864}" presName="spaceRect" presStyleCnt="0"/>
      <dgm:spPr/>
    </dgm:pt>
    <dgm:pt modelId="{16966E3C-9C36-4759-8200-3496A4EDD122}" type="pres">
      <dgm:prSet presAssocID="{91A755CD-7E1B-43EC-87E4-CF3BC647E864}" presName="textRect" presStyleLbl="revTx" presStyleIdx="2" presStyleCnt="5">
        <dgm:presLayoutVars>
          <dgm:chMax val="1"/>
          <dgm:chPref val="1"/>
        </dgm:presLayoutVars>
      </dgm:prSet>
      <dgm:spPr/>
    </dgm:pt>
    <dgm:pt modelId="{5D72C562-7169-419A-BF7B-1F8598D17464}" type="pres">
      <dgm:prSet presAssocID="{B9029A87-E44F-4A4E-B202-4ED2C9E60B80}" presName="sibTrans" presStyleCnt="0"/>
      <dgm:spPr/>
    </dgm:pt>
    <dgm:pt modelId="{89075BAC-D2C9-4750-8FE0-5C7A882E446E}" type="pres">
      <dgm:prSet presAssocID="{F5F3B37B-B570-4513-9964-2824E4817E40}" presName="compNode" presStyleCnt="0"/>
      <dgm:spPr/>
    </dgm:pt>
    <dgm:pt modelId="{A115DEDE-D8FC-4A49-B6EE-F0CE7882F67A}" type="pres">
      <dgm:prSet presAssocID="{F5F3B37B-B570-4513-9964-2824E4817E40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80CEF716-615C-4040-B2F6-9C3605644D88}" type="pres">
      <dgm:prSet presAssocID="{F5F3B37B-B570-4513-9964-2824E4817E40}" presName="spaceRect" presStyleCnt="0"/>
      <dgm:spPr/>
    </dgm:pt>
    <dgm:pt modelId="{534DCF0D-F327-494C-9160-CD1F61B24AB9}" type="pres">
      <dgm:prSet presAssocID="{F5F3B37B-B570-4513-9964-2824E4817E40}" presName="textRect" presStyleLbl="revTx" presStyleIdx="3" presStyleCnt="5">
        <dgm:presLayoutVars>
          <dgm:chMax val="1"/>
          <dgm:chPref val="1"/>
        </dgm:presLayoutVars>
      </dgm:prSet>
      <dgm:spPr/>
    </dgm:pt>
    <dgm:pt modelId="{251C3D85-7661-4E66-9212-294FD74ED8C2}" type="pres">
      <dgm:prSet presAssocID="{BE20696A-6308-46E2-BB13-D5FA5011F9CB}" presName="sibTrans" presStyleCnt="0"/>
      <dgm:spPr/>
    </dgm:pt>
    <dgm:pt modelId="{71B0B492-5592-40A5-B013-DD02D8675CF5}" type="pres">
      <dgm:prSet presAssocID="{2E8960D7-43EA-4977-BB75-D6682B3AB898}" presName="compNode" presStyleCnt="0"/>
      <dgm:spPr/>
    </dgm:pt>
    <dgm:pt modelId="{88C5B69F-48F0-41E5-A452-393EAE4B43CB}" type="pres">
      <dgm:prSet presAssocID="{2E8960D7-43EA-4977-BB75-D6682B3AB898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FF6A04C1-3E6B-4721-935B-76DE69CDD18F}" type="pres">
      <dgm:prSet presAssocID="{2E8960D7-43EA-4977-BB75-D6682B3AB898}" presName="spaceRect" presStyleCnt="0"/>
      <dgm:spPr/>
    </dgm:pt>
    <dgm:pt modelId="{2876418E-4B4B-4622-B3A2-8484B2B76D96}" type="pres">
      <dgm:prSet presAssocID="{2E8960D7-43EA-4977-BB75-D6682B3AB898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003D1B2C-A1AE-423A-A481-F5E81A5D8CE8}" srcId="{7C7380C0-A0BE-4FDF-9135-2726F79C9416}" destId="{F5F3B37B-B570-4513-9964-2824E4817E40}" srcOrd="3" destOrd="0" parTransId="{47611E6E-2872-4715-9DAE-F6486C8BC7C8}" sibTransId="{BE20696A-6308-46E2-BB13-D5FA5011F9CB}"/>
    <dgm:cxn modelId="{2E87B239-85BC-452B-9B78-17B53E3B0EFC}" type="presOf" srcId="{2FBAA0C7-AC2D-4C47-B40F-752CEF8426C7}" destId="{237B7133-A737-4E9F-8C9A-30DD89329D67}" srcOrd="0" destOrd="0" presId="urn:microsoft.com/office/officeart/2018/2/layout/IconLabelList"/>
    <dgm:cxn modelId="{EF699174-EE8B-4795-BA24-7465A065E74B}" type="presOf" srcId="{2E8960D7-43EA-4977-BB75-D6682B3AB898}" destId="{2876418E-4B4B-4622-B3A2-8484B2B76D96}" srcOrd="0" destOrd="0" presId="urn:microsoft.com/office/officeart/2018/2/layout/IconLabelList"/>
    <dgm:cxn modelId="{32390790-6B90-46B9-A590-ACCED7F04492}" type="presOf" srcId="{F5F3B37B-B570-4513-9964-2824E4817E40}" destId="{534DCF0D-F327-494C-9160-CD1F61B24AB9}" srcOrd="0" destOrd="0" presId="urn:microsoft.com/office/officeart/2018/2/layout/IconLabelList"/>
    <dgm:cxn modelId="{E0606C9B-643A-4E7F-B75D-8FB48F43335C}" srcId="{7C7380C0-A0BE-4FDF-9135-2726F79C9416}" destId="{2E8960D7-43EA-4977-BB75-D6682B3AB898}" srcOrd="4" destOrd="0" parTransId="{0B73636C-2CE4-4C1F-A0D4-2702515A4B2D}" sibTransId="{37A27901-D272-444D-81CF-6E1F389E41F2}"/>
    <dgm:cxn modelId="{C59045A5-5905-4CB5-90B5-D7E389C412E2}" type="presOf" srcId="{7C7380C0-A0BE-4FDF-9135-2726F79C9416}" destId="{F60CDB5C-BE03-4B70-928F-0A27B89700A2}" srcOrd="0" destOrd="0" presId="urn:microsoft.com/office/officeart/2018/2/layout/IconLabelList"/>
    <dgm:cxn modelId="{06A5F0B2-6C85-498D-B9EB-CF2356AF6581}" type="presOf" srcId="{91A755CD-7E1B-43EC-87E4-CF3BC647E864}" destId="{16966E3C-9C36-4759-8200-3496A4EDD122}" srcOrd="0" destOrd="0" presId="urn:microsoft.com/office/officeart/2018/2/layout/IconLabelList"/>
    <dgm:cxn modelId="{3BD4A8C2-ADCF-41D8-95F4-335DA8EB5435}" srcId="{7C7380C0-A0BE-4FDF-9135-2726F79C9416}" destId="{91A755CD-7E1B-43EC-87E4-CF3BC647E864}" srcOrd="2" destOrd="0" parTransId="{05B60C56-AE25-4187-9D95-B4B443F9F4D5}" sibTransId="{B9029A87-E44F-4A4E-B202-4ED2C9E60B80}"/>
    <dgm:cxn modelId="{70005AE3-90AB-403D-8F23-72FF5065CA50}" srcId="{7C7380C0-A0BE-4FDF-9135-2726F79C9416}" destId="{C410C7C4-11AA-4284-919B-74E0C12BE7AE}" srcOrd="1" destOrd="0" parTransId="{01CE3841-F65B-4810-8F19-6E7079A4399F}" sibTransId="{D1646CBD-0E39-4C63-8015-33E926B3DD50}"/>
    <dgm:cxn modelId="{C7C91CE6-7DFA-4B86-AB1F-57DEE2989101}" srcId="{7C7380C0-A0BE-4FDF-9135-2726F79C9416}" destId="{2FBAA0C7-AC2D-4C47-B40F-752CEF8426C7}" srcOrd="0" destOrd="0" parTransId="{48796879-E498-490C-868B-7E6A49C8EA55}" sibTransId="{F70A8598-9813-42DA-9374-8D718B358D97}"/>
    <dgm:cxn modelId="{52CC1BF4-A2F4-4805-88B3-51E211DF45C3}" type="presOf" srcId="{C410C7C4-11AA-4284-919B-74E0C12BE7AE}" destId="{14948E07-159E-4A9D-9850-BB73F6014125}" srcOrd="0" destOrd="0" presId="urn:microsoft.com/office/officeart/2018/2/layout/IconLabelList"/>
    <dgm:cxn modelId="{C55C1147-9426-48DC-A183-A5746C15F11E}" type="presParOf" srcId="{F60CDB5C-BE03-4B70-928F-0A27B89700A2}" destId="{DC0E5853-0356-4454-9DF9-203ADB193947}" srcOrd="0" destOrd="0" presId="urn:microsoft.com/office/officeart/2018/2/layout/IconLabelList"/>
    <dgm:cxn modelId="{9EEF3143-52A8-429E-AD9B-4682580DE5CA}" type="presParOf" srcId="{DC0E5853-0356-4454-9DF9-203ADB193947}" destId="{75420D24-420B-4BB8-970B-A09221815A90}" srcOrd="0" destOrd="0" presId="urn:microsoft.com/office/officeart/2018/2/layout/IconLabelList"/>
    <dgm:cxn modelId="{90F0E645-1850-42EC-AA97-EEB5D3CF8A30}" type="presParOf" srcId="{DC0E5853-0356-4454-9DF9-203ADB193947}" destId="{21B7C1F6-8D6C-4E16-88EA-608654BC6990}" srcOrd="1" destOrd="0" presId="urn:microsoft.com/office/officeart/2018/2/layout/IconLabelList"/>
    <dgm:cxn modelId="{5914FF9B-30E2-4541-BAA4-328AED82C572}" type="presParOf" srcId="{DC0E5853-0356-4454-9DF9-203ADB193947}" destId="{237B7133-A737-4E9F-8C9A-30DD89329D67}" srcOrd="2" destOrd="0" presId="urn:microsoft.com/office/officeart/2018/2/layout/IconLabelList"/>
    <dgm:cxn modelId="{47FE8B24-DB77-4B49-BCBA-8E77D91437CB}" type="presParOf" srcId="{F60CDB5C-BE03-4B70-928F-0A27B89700A2}" destId="{88461C7D-9EC4-4C75-B447-8D667B96EF7D}" srcOrd="1" destOrd="0" presId="urn:microsoft.com/office/officeart/2018/2/layout/IconLabelList"/>
    <dgm:cxn modelId="{5BE9C5B2-7503-4C8A-8BDB-133DE81F498B}" type="presParOf" srcId="{F60CDB5C-BE03-4B70-928F-0A27B89700A2}" destId="{6B18B482-82B6-402B-8197-F24DE09C0A1C}" srcOrd="2" destOrd="0" presId="urn:microsoft.com/office/officeart/2018/2/layout/IconLabelList"/>
    <dgm:cxn modelId="{D46D439C-EAC7-4C0A-9FAA-1C464A01B86D}" type="presParOf" srcId="{6B18B482-82B6-402B-8197-F24DE09C0A1C}" destId="{F07336F9-3B06-4034-BF91-351F4134A206}" srcOrd="0" destOrd="0" presId="urn:microsoft.com/office/officeart/2018/2/layout/IconLabelList"/>
    <dgm:cxn modelId="{A1952EC1-A2FB-404D-B243-B7FDC6C7A366}" type="presParOf" srcId="{6B18B482-82B6-402B-8197-F24DE09C0A1C}" destId="{18C0B252-4B34-40F2-85B8-0F592825990D}" srcOrd="1" destOrd="0" presId="urn:microsoft.com/office/officeart/2018/2/layout/IconLabelList"/>
    <dgm:cxn modelId="{B6661CD2-8E88-4CA1-893F-76A219D963CF}" type="presParOf" srcId="{6B18B482-82B6-402B-8197-F24DE09C0A1C}" destId="{14948E07-159E-4A9D-9850-BB73F6014125}" srcOrd="2" destOrd="0" presId="urn:microsoft.com/office/officeart/2018/2/layout/IconLabelList"/>
    <dgm:cxn modelId="{6428AFE0-B8FB-498B-8BD3-52141A506D79}" type="presParOf" srcId="{F60CDB5C-BE03-4B70-928F-0A27B89700A2}" destId="{8328F85E-BD16-469D-B0B8-33EDEACA97A9}" srcOrd="3" destOrd="0" presId="urn:microsoft.com/office/officeart/2018/2/layout/IconLabelList"/>
    <dgm:cxn modelId="{E98AE284-33F8-44E9-9D73-741D13F0F863}" type="presParOf" srcId="{F60CDB5C-BE03-4B70-928F-0A27B89700A2}" destId="{9B8DCBAB-317F-4B07-A396-A6F3363A9EB7}" srcOrd="4" destOrd="0" presId="urn:microsoft.com/office/officeart/2018/2/layout/IconLabelList"/>
    <dgm:cxn modelId="{DE128820-8C20-4255-8A49-2BF6A4635E9B}" type="presParOf" srcId="{9B8DCBAB-317F-4B07-A396-A6F3363A9EB7}" destId="{844C9D3E-BC03-4E40-9B96-6A3C32E2E6D5}" srcOrd="0" destOrd="0" presId="urn:microsoft.com/office/officeart/2018/2/layout/IconLabelList"/>
    <dgm:cxn modelId="{AE5E2A5F-BF7C-4FD1-A6F3-F33369F5FD75}" type="presParOf" srcId="{9B8DCBAB-317F-4B07-A396-A6F3363A9EB7}" destId="{42F50868-865C-4659-9FF6-58AFB705F473}" srcOrd="1" destOrd="0" presId="urn:microsoft.com/office/officeart/2018/2/layout/IconLabelList"/>
    <dgm:cxn modelId="{52007D76-8CB3-4668-AD95-B9F08EEFA4B0}" type="presParOf" srcId="{9B8DCBAB-317F-4B07-A396-A6F3363A9EB7}" destId="{16966E3C-9C36-4759-8200-3496A4EDD122}" srcOrd="2" destOrd="0" presId="urn:microsoft.com/office/officeart/2018/2/layout/IconLabelList"/>
    <dgm:cxn modelId="{3576E5EC-A5E2-4D2F-AAB6-EB60AC7DC6CD}" type="presParOf" srcId="{F60CDB5C-BE03-4B70-928F-0A27B89700A2}" destId="{5D72C562-7169-419A-BF7B-1F8598D17464}" srcOrd="5" destOrd="0" presId="urn:microsoft.com/office/officeart/2018/2/layout/IconLabelList"/>
    <dgm:cxn modelId="{1800AF19-FEB5-4A23-BEEF-F43D7AF22BA3}" type="presParOf" srcId="{F60CDB5C-BE03-4B70-928F-0A27B89700A2}" destId="{89075BAC-D2C9-4750-8FE0-5C7A882E446E}" srcOrd="6" destOrd="0" presId="urn:microsoft.com/office/officeart/2018/2/layout/IconLabelList"/>
    <dgm:cxn modelId="{6285BEEB-52D0-4EDD-A5C6-AABE68EFD520}" type="presParOf" srcId="{89075BAC-D2C9-4750-8FE0-5C7A882E446E}" destId="{A115DEDE-D8FC-4A49-B6EE-F0CE7882F67A}" srcOrd="0" destOrd="0" presId="urn:microsoft.com/office/officeart/2018/2/layout/IconLabelList"/>
    <dgm:cxn modelId="{A9BD8D56-5E6C-4628-8F97-7650022F74C1}" type="presParOf" srcId="{89075BAC-D2C9-4750-8FE0-5C7A882E446E}" destId="{80CEF716-615C-4040-B2F6-9C3605644D88}" srcOrd="1" destOrd="0" presId="urn:microsoft.com/office/officeart/2018/2/layout/IconLabelList"/>
    <dgm:cxn modelId="{8A6DED18-7C97-4560-9D08-84467912C344}" type="presParOf" srcId="{89075BAC-D2C9-4750-8FE0-5C7A882E446E}" destId="{534DCF0D-F327-494C-9160-CD1F61B24AB9}" srcOrd="2" destOrd="0" presId="urn:microsoft.com/office/officeart/2018/2/layout/IconLabelList"/>
    <dgm:cxn modelId="{669F43DC-56E5-44C1-B146-2D95E3202675}" type="presParOf" srcId="{F60CDB5C-BE03-4B70-928F-0A27B89700A2}" destId="{251C3D85-7661-4E66-9212-294FD74ED8C2}" srcOrd="7" destOrd="0" presId="urn:microsoft.com/office/officeart/2018/2/layout/IconLabelList"/>
    <dgm:cxn modelId="{63E009BF-6CCC-4928-90C2-5A5C14B20DCD}" type="presParOf" srcId="{F60CDB5C-BE03-4B70-928F-0A27B89700A2}" destId="{71B0B492-5592-40A5-B013-DD02D8675CF5}" srcOrd="8" destOrd="0" presId="urn:microsoft.com/office/officeart/2018/2/layout/IconLabelList"/>
    <dgm:cxn modelId="{1F937267-2F1D-4BED-B451-6B0733EAA85F}" type="presParOf" srcId="{71B0B492-5592-40A5-B013-DD02D8675CF5}" destId="{88C5B69F-48F0-41E5-A452-393EAE4B43CB}" srcOrd="0" destOrd="0" presId="urn:microsoft.com/office/officeart/2018/2/layout/IconLabelList"/>
    <dgm:cxn modelId="{5C850181-BF4C-4AAE-996C-46A23B5501D8}" type="presParOf" srcId="{71B0B492-5592-40A5-B013-DD02D8675CF5}" destId="{FF6A04C1-3E6B-4721-935B-76DE69CDD18F}" srcOrd="1" destOrd="0" presId="urn:microsoft.com/office/officeart/2018/2/layout/IconLabelList"/>
    <dgm:cxn modelId="{440EC542-EF83-4F4F-B0BB-4137B181A45D}" type="presParOf" srcId="{71B0B492-5592-40A5-B013-DD02D8675CF5}" destId="{2876418E-4B4B-4622-B3A2-8484B2B76D9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420D24-420B-4BB8-970B-A09221815A90}">
      <dsp:nvSpPr>
        <dsp:cNvPr id="0" name=""/>
        <dsp:cNvSpPr/>
      </dsp:nvSpPr>
      <dsp:spPr>
        <a:xfrm>
          <a:off x="546600" y="565531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7B7133-A737-4E9F-8C9A-30DD89329D67}">
      <dsp:nvSpPr>
        <dsp:cNvPr id="0" name=""/>
        <dsp:cNvSpPr/>
      </dsp:nvSpPr>
      <dsp:spPr>
        <a:xfrm>
          <a:off x="51600" y="1796468"/>
          <a:ext cx="1800000" cy="157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This presentation is for learning and staff training purposes only.</a:t>
          </a:r>
          <a:endParaRPr lang="en-US" sz="1100" kern="1200"/>
        </a:p>
      </dsp:txBody>
      <dsp:txXfrm>
        <a:off x="51600" y="1796468"/>
        <a:ext cx="1800000" cy="1575000"/>
      </dsp:txXfrm>
    </dsp:sp>
    <dsp:sp modelId="{F07336F9-3B06-4034-BF91-351F4134A206}">
      <dsp:nvSpPr>
        <dsp:cNvPr id="0" name=""/>
        <dsp:cNvSpPr/>
      </dsp:nvSpPr>
      <dsp:spPr>
        <a:xfrm>
          <a:off x="2661600" y="565531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948E07-159E-4A9D-9850-BB73F6014125}">
      <dsp:nvSpPr>
        <dsp:cNvPr id="0" name=""/>
        <dsp:cNvSpPr/>
      </dsp:nvSpPr>
      <dsp:spPr>
        <a:xfrm>
          <a:off x="2166600" y="1796468"/>
          <a:ext cx="1800000" cy="157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Do not rely solely on this PowerPoint for clinical decision-making, diagnosis, treatment, or patient management. Always follow current clinical guidelines, provider orders, facility policy, and applicable regulatory requirements.</a:t>
          </a:r>
          <a:endParaRPr lang="en-US" sz="1100" kern="1200"/>
        </a:p>
      </dsp:txBody>
      <dsp:txXfrm>
        <a:off x="2166600" y="1796468"/>
        <a:ext cx="1800000" cy="1575000"/>
      </dsp:txXfrm>
    </dsp:sp>
    <dsp:sp modelId="{844C9D3E-BC03-4E40-9B96-6A3C32E2E6D5}">
      <dsp:nvSpPr>
        <dsp:cNvPr id="0" name=""/>
        <dsp:cNvSpPr/>
      </dsp:nvSpPr>
      <dsp:spPr>
        <a:xfrm>
          <a:off x="4776600" y="565531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966E3C-9C36-4759-8200-3496A4EDD122}">
      <dsp:nvSpPr>
        <dsp:cNvPr id="0" name=""/>
        <dsp:cNvSpPr/>
      </dsp:nvSpPr>
      <dsp:spPr>
        <a:xfrm>
          <a:off x="4281600" y="1796468"/>
          <a:ext cx="1800000" cy="157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PulmOne USA Inc. does not own, claim credit for, or represent ownership of third-party clinical information, screenshots, references, or source material included in this training.</a:t>
          </a:r>
          <a:endParaRPr lang="en-US" sz="1100" kern="1200"/>
        </a:p>
      </dsp:txBody>
      <dsp:txXfrm>
        <a:off x="4281600" y="1796468"/>
        <a:ext cx="1800000" cy="1575000"/>
      </dsp:txXfrm>
    </dsp:sp>
    <dsp:sp modelId="{A115DEDE-D8FC-4A49-B6EE-F0CE7882F67A}">
      <dsp:nvSpPr>
        <dsp:cNvPr id="0" name=""/>
        <dsp:cNvSpPr/>
      </dsp:nvSpPr>
      <dsp:spPr>
        <a:xfrm>
          <a:off x="6891600" y="565531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4DCF0D-F327-494C-9160-CD1F61B24AB9}">
      <dsp:nvSpPr>
        <dsp:cNvPr id="0" name=""/>
        <dsp:cNvSpPr/>
      </dsp:nvSpPr>
      <dsp:spPr>
        <a:xfrm>
          <a:off x="6396600" y="1796468"/>
          <a:ext cx="1800000" cy="157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Do not copy, publish, distribute, or share this presentation or its source materials outside the intended training audience without proper authorization or permission from the applicable rights holders.</a:t>
          </a:r>
          <a:endParaRPr lang="en-US" sz="1100" kern="1200"/>
        </a:p>
      </dsp:txBody>
      <dsp:txXfrm>
        <a:off x="6396600" y="1796468"/>
        <a:ext cx="1800000" cy="1575000"/>
      </dsp:txXfrm>
    </dsp:sp>
    <dsp:sp modelId="{88C5B69F-48F0-41E5-A452-393EAE4B43CB}">
      <dsp:nvSpPr>
        <dsp:cNvPr id="0" name=""/>
        <dsp:cNvSpPr/>
      </dsp:nvSpPr>
      <dsp:spPr>
        <a:xfrm>
          <a:off x="9006600" y="565531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76418E-4B4B-4622-B3A2-8484B2B76D96}">
      <dsp:nvSpPr>
        <dsp:cNvPr id="0" name=""/>
        <dsp:cNvSpPr/>
      </dsp:nvSpPr>
      <dsp:spPr>
        <a:xfrm>
          <a:off x="8511600" y="1796468"/>
          <a:ext cx="1800000" cy="157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Any third-party material is included only as limited educational reference content and should not be used for marketing, commercial distribution, or public posting.</a:t>
          </a:r>
          <a:endParaRPr lang="en-US" sz="1100" kern="1200"/>
        </a:p>
      </dsp:txBody>
      <dsp:txXfrm>
        <a:off x="8511600" y="1796468"/>
        <a:ext cx="1800000" cy="157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2A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05000"/>
            <a:ext cx="8514126" cy="17543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lang="en-US" sz="5400" b="1" dirty="0">
                <a:solidFill>
                  <a:srgbClr val="FFFFFF"/>
                </a:solidFill>
              </a:rPr>
              <a:t>Pulmonary Function Testing</a:t>
            </a:r>
          </a:p>
          <a:p>
            <a:pPr algn="l">
              <a:buNone/>
            </a:pPr>
            <a:r>
              <a:rPr lang="en-US" sz="5400" b="1" dirty="0">
                <a:solidFill>
                  <a:srgbClr val="FFFFFF"/>
                </a:solidFill>
              </a:rPr>
              <a:t>Rheumatology Clinic Training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7C3954-86B2-4F77-A751-8E6F207D900D}"/>
              </a:ext>
            </a:extLst>
          </p:cNvPr>
          <p:cNvSpPr txBox="1"/>
          <p:nvPr/>
        </p:nvSpPr>
        <p:spPr>
          <a:xfrm>
            <a:off x="914400" y="4064000"/>
            <a:ext cx="10363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2000" dirty="0">
                <a:solidFill>
                  <a:srgbClr val="A8C5D6"/>
                </a:solidFill>
              </a:rPr>
              <a:t>Internal training reference  •  ILD monitoring  • 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50A8AD-D83A-4344-8D84-D9935F7495EC}"/>
              </a:ext>
            </a:extLst>
          </p:cNvPr>
          <p:cNvSpPr txBox="1"/>
          <p:nvPr/>
        </p:nvSpPr>
        <p:spPr>
          <a:xfrm>
            <a:off x="914400" y="6096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PulmOne</a:t>
            </a:r>
          </a:p>
        </p:txBody>
      </p:sp>
    </p:spTree>
    <p:extLst>
      <p:ext uri="{BB962C8B-B14F-4D97-AF65-F5344CB8AC3E}">
        <p14:creationId xmlns:p14="http://schemas.microsoft.com/office/powerpoint/2010/main" val="1199227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4F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16000"/>
            <a:ext cx="545373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lang="en-US" sz="3200" b="1" dirty="0">
                <a:solidFill>
                  <a:srgbClr val="0E2A3A"/>
                </a:solidFill>
              </a:rPr>
              <a:t>Learning Purpose &amp; Use Notice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52600"/>
            <a:ext cx="1219200" cy="50800"/>
          </a:xfrm>
          <a:prstGeom prst="rect">
            <a:avLst/>
          </a:prstGeom>
          <a:solidFill>
            <a:srgbClr val="1F6B8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6451600"/>
            <a:ext cx="248657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1F6B82"/>
                </a:solidFill>
              </a:rPr>
              <a:t>RHEUMATOLOGY CLINIC TRAINING  •  2026</a:t>
            </a:r>
          </a:p>
        </p:txBody>
      </p:sp>
      <p:graphicFrame>
        <p:nvGraphicFramePr>
          <p:cNvPr id="10" name="TextBox 6">
            <a:extLst>
              <a:ext uri="{FF2B5EF4-FFF2-40B4-BE49-F238E27FC236}">
                <a16:creationId xmlns:a16="http://schemas.microsoft.com/office/drawing/2014/main" id="{4704DBBF-0555-31FD-EB22-72986A622D10}"/>
              </a:ext>
            </a:extLst>
          </p:cNvPr>
          <p:cNvGraphicFramePr/>
          <p:nvPr/>
        </p:nvGraphicFramePr>
        <p:xfrm>
          <a:off x="914400" y="2159000"/>
          <a:ext cx="10363200" cy="3937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240C83C-617C-40E8-BFE9-A7FF6D55E290}"/>
              </a:ext>
            </a:extLst>
          </p:cNvPr>
          <p:cNvSpPr txBox="1"/>
          <p:nvPr/>
        </p:nvSpPr>
        <p:spPr>
          <a:xfrm>
            <a:off x="914400" y="4572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E2A3A"/>
                </a:solidFill>
                <a:latin typeface="Calibri"/>
                <a:ea typeface="Calibri"/>
                <a:cs typeface="Calibri"/>
              </a:rPr>
              <a:t>PulmOne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D32CDD-6F3A-4508-838E-23EA5191AABC}"/>
              </a:ext>
            </a:extLst>
          </p:cNvPr>
          <p:cNvSpPr txBox="1"/>
          <p:nvPr/>
        </p:nvSpPr>
        <p:spPr>
          <a:xfrm>
            <a:off x="11176000" y="6451600"/>
            <a:ext cx="406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1F6B82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85690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4F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F7BDFC-4D8E-41B5-A3B6-99A65DDB93DA}"/>
              </a:ext>
            </a:extLst>
          </p:cNvPr>
          <p:cNvSpPr txBox="1"/>
          <p:nvPr/>
        </p:nvSpPr>
        <p:spPr>
          <a:xfrm>
            <a:off x="914400" y="3556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E2A3A"/>
                </a:solidFill>
                <a:latin typeface="Calibri"/>
                <a:ea typeface="Calibri"/>
                <a:cs typeface="Calibri"/>
              </a:rPr>
              <a:t>PulmOne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D1A18C-9D41-44FB-8667-21CB85431425}"/>
              </a:ext>
            </a:extLst>
          </p:cNvPr>
          <p:cNvSpPr txBox="1"/>
          <p:nvPr/>
        </p:nvSpPr>
        <p:spPr>
          <a:xfrm>
            <a:off x="914400" y="64516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1F6B82"/>
                </a:solidFill>
                <a:latin typeface="Calibri"/>
                <a:ea typeface="Calibri"/>
                <a:cs typeface="Calibri"/>
              </a:rPr>
              <a:t>RHEUMATOLOGY CLINIC TRAINING  • 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9ECC9C-9924-48D7-B99B-6DBF2882157A}"/>
              </a:ext>
            </a:extLst>
          </p:cNvPr>
          <p:cNvSpPr txBox="1"/>
          <p:nvPr/>
        </p:nvSpPr>
        <p:spPr>
          <a:xfrm>
            <a:off x="11176000" y="6451600"/>
            <a:ext cx="406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1F6B82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5A17E0-A8D3-4A49-93A1-A0E61DE64203}"/>
              </a:ext>
            </a:extLst>
          </p:cNvPr>
          <p:cNvSpPr txBox="1"/>
          <p:nvPr/>
        </p:nvSpPr>
        <p:spPr>
          <a:xfrm>
            <a:off x="914400" y="1016000"/>
            <a:ext cx="10363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0E2A3A"/>
                </a:solidFill>
              </a:rPr>
              <a:t>Complete PFT Components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A4EDB6-A241-4CAD-AC50-4A7BE90FCED4}"/>
              </a:ext>
            </a:extLst>
          </p:cNvPr>
          <p:cNvSpPr/>
          <p:nvPr/>
        </p:nvSpPr>
        <p:spPr>
          <a:xfrm>
            <a:off x="914400" y="1676400"/>
            <a:ext cx="1016000" cy="38100"/>
          </a:xfrm>
          <a:prstGeom prst="rect">
            <a:avLst/>
          </a:prstGeom>
          <a:solidFill>
            <a:srgbClr val="1F6B8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3D7891-B915-48E2-A4E3-37EC7AEA4083}"/>
              </a:ext>
            </a:extLst>
          </p:cNvPr>
          <p:cNvSpPr txBox="1"/>
          <p:nvPr/>
        </p:nvSpPr>
        <p:spPr>
          <a:xfrm>
            <a:off x="914400" y="1828800"/>
            <a:ext cx="103632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600" i="1" dirty="0">
                <a:solidFill>
                  <a:srgbClr val="1F6B82"/>
                </a:solidFill>
              </a:rPr>
              <a:t>For rheumatology clinic, complete PFTs include four core components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3DC887-0548-451F-BC5E-DBB94C95FFBE}"/>
              </a:ext>
            </a:extLst>
          </p:cNvPr>
          <p:cNvSpPr txBox="1"/>
          <p:nvPr/>
        </p:nvSpPr>
        <p:spPr>
          <a:xfrm>
            <a:off x="914400" y="2387600"/>
            <a:ext cx="10363200" cy="192103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 algn="l">
              <a:spcAft>
                <a:spcPts val="4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b="1" dirty="0">
                <a:solidFill>
                  <a:srgbClr val="0E2A3A"/>
                </a:solidFill>
              </a:rPr>
              <a:t>Spirometry:</a:t>
            </a:r>
            <a:r>
              <a:rPr lang="en-US" sz="1400" dirty="0">
                <a:solidFill>
                  <a:srgbClr val="0E2A3A"/>
                </a:solidFill>
              </a:rPr>
              <a:t> FEV₁, FVC, FEV₁/FVC ratio — assesses for obstructive or restrictive patterns</a:t>
            </a:r>
          </a:p>
          <a:p>
            <a:pPr marL="228600" indent="-228600" algn="l">
              <a:spcAft>
                <a:spcPts val="4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b="1" dirty="0">
                <a:solidFill>
                  <a:srgbClr val="0E2A3A"/>
                </a:solidFill>
              </a:rPr>
              <a:t>Lung volumes:</a:t>
            </a:r>
            <a:r>
              <a:rPr lang="en-US" sz="1400" dirty="0">
                <a:solidFill>
                  <a:srgbClr val="0E2A3A"/>
                </a:solidFill>
              </a:rPr>
              <a:t> Total lung capacity (TLC) by body plethysmography — confirms restriction</a:t>
            </a:r>
          </a:p>
          <a:p>
            <a:pPr marL="228600" indent="-228600" algn="l">
              <a:spcAft>
                <a:spcPts val="4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b="1" dirty="0">
                <a:solidFill>
                  <a:srgbClr val="0E2A3A"/>
                </a:solidFill>
              </a:rPr>
              <a:t>Diffusing capacity:</a:t>
            </a:r>
            <a:r>
              <a:rPr lang="en-US" sz="1400" dirty="0">
                <a:solidFill>
                  <a:srgbClr val="0E2A3A"/>
                </a:solidFill>
              </a:rPr>
              <a:t> DLCO — most sensitive for early ILD; low DLCO with preserved spirometry may indicate isolated interstitial involvement</a:t>
            </a:r>
          </a:p>
          <a:p>
            <a:pPr marL="228600" indent="-228600" algn="l">
              <a:spcAft>
                <a:spcPts val="6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b="1" dirty="0">
                <a:solidFill>
                  <a:srgbClr val="0E2A3A"/>
                </a:solidFill>
              </a:rPr>
              <a:t>Gas exchange:</a:t>
            </a:r>
            <a:r>
              <a:rPr lang="en-US" sz="1400" dirty="0">
                <a:solidFill>
                  <a:srgbClr val="0E2A3A"/>
                </a:solidFill>
              </a:rPr>
              <a:t> Resting and ambulatory oxygen saturation; 6-minute walk test with desaturation monitoring</a:t>
            </a:r>
          </a:p>
          <a:p>
            <a:pPr algn="l">
              <a:spcBef>
                <a:spcPts val="4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E2A3A"/>
                </a:solidFill>
              </a:rPr>
              <a:t>Key teaching point</a:t>
            </a:r>
          </a:p>
          <a:p>
            <a:pPr algn="l">
              <a:buNone/>
            </a:pPr>
            <a:r>
              <a:rPr lang="en-US" sz="1400" dirty="0">
                <a:solidFill>
                  <a:srgbClr val="0E2A3A"/>
                </a:solidFill>
              </a:rPr>
              <a:t>Do not rely on spirometry alone — up to 20–30% of patients with early ILD may have normal FVC but reduced DLCO.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62F58C-1258-4DDA-89B6-9ACFC50A119A}"/>
              </a:ext>
            </a:extLst>
          </p:cNvPr>
          <p:cNvSpPr txBox="1"/>
          <p:nvPr/>
        </p:nvSpPr>
        <p:spPr>
          <a:xfrm>
            <a:off x="914400" y="4419600"/>
            <a:ext cx="103632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0E2A3A"/>
                </a:solidFill>
              </a:rPr>
              <a:t>Monitoring frequency after ILD diagnosis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0B61E5B-F89A-495D-B823-B47B84765F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30145"/>
              </p:ext>
            </p:extLst>
          </p:nvPr>
        </p:nvGraphicFramePr>
        <p:xfrm>
          <a:off x="914400" y="4826000"/>
          <a:ext cx="10363200" cy="1524000"/>
        </p:xfrm>
        <a:graphic>
          <a:graphicData uri="http://schemas.openxmlformats.org/drawingml/2006/table">
            <a:tbl>
              <a:tblPr/>
              <a:tblGrid>
                <a:gridCol w="3454400">
                  <a:extLst>
                    <a:ext uri="{9D8B030D-6E8A-4147-A177-3AD203B41FA5}">
                      <a16:colId xmlns:a16="http://schemas.microsoft.com/office/drawing/2014/main" val="3632457772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179386911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149203322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Disease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First 1–2 years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Subsequent follow-up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E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91281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Systemic sclerosis–ILD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Every 3–6 months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Every 6–12 months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00046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IIM–ILD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Every 3–6 months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Every 6–12 months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83394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RA–ILD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Every 3–6 months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Every 6–12 months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53146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Sjögren's–ILD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Every 3–6 months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Every 6–12 months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225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942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4F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0D8446-3ADC-4184-8FC9-C0A74362B797}"/>
              </a:ext>
            </a:extLst>
          </p:cNvPr>
          <p:cNvSpPr txBox="1"/>
          <p:nvPr/>
        </p:nvSpPr>
        <p:spPr>
          <a:xfrm>
            <a:off x="914400" y="3556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E2A3A"/>
                </a:solidFill>
                <a:latin typeface="Calibri"/>
                <a:ea typeface="Calibri"/>
                <a:cs typeface="Calibri"/>
              </a:rPr>
              <a:t>PulmOne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E0D5BD-4A2E-481B-B53D-54BFF6B6BDDA}"/>
              </a:ext>
            </a:extLst>
          </p:cNvPr>
          <p:cNvSpPr txBox="1"/>
          <p:nvPr/>
        </p:nvSpPr>
        <p:spPr>
          <a:xfrm>
            <a:off x="914400" y="64516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1F6B82"/>
                </a:solidFill>
                <a:latin typeface="Calibri"/>
                <a:ea typeface="Calibri"/>
                <a:cs typeface="Calibri"/>
              </a:rPr>
              <a:t>RHEUMATOLOGY CLINIC TRAINING  • 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23E36A-ADDF-4403-9301-EC32B3EBD3CD}"/>
              </a:ext>
            </a:extLst>
          </p:cNvPr>
          <p:cNvSpPr txBox="1"/>
          <p:nvPr/>
        </p:nvSpPr>
        <p:spPr>
          <a:xfrm>
            <a:off x="11176000" y="6451600"/>
            <a:ext cx="406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1F6B82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C1C85F-C887-43F4-B8E3-D57B98BBB5AB}"/>
              </a:ext>
            </a:extLst>
          </p:cNvPr>
          <p:cNvSpPr txBox="1"/>
          <p:nvPr/>
        </p:nvSpPr>
        <p:spPr>
          <a:xfrm>
            <a:off x="914400" y="1016000"/>
            <a:ext cx="10363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0E2A3A"/>
                </a:solidFill>
              </a:rPr>
              <a:t>Why PFTs in Rheumatology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6317E4-1A5F-4986-8DB4-ECC5A9A515E0}"/>
              </a:ext>
            </a:extLst>
          </p:cNvPr>
          <p:cNvSpPr/>
          <p:nvPr/>
        </p:nvSpPr>
        <p:spPr>
          <a:xfrm>
            <a:off x="914400" y="1676400"/>
            <a:ext cx="1016000" cy="38100"/>
          </a:xfrm>
          <a:prstGeom prst="rect">
            <a:avLst/>
          </a:prstGeom>
          <a:solidFill>
            <a:srgbClr val="1F6B8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B990CC-3C47-443F-88DA-694DB168EF9C}"/>
              </a:ext>
            </a:extLst>
          </p:cNvPr>
          <p:cNvSpPr txBox="1"/>
          <p:nvPr/>
        </p:nvSpPr>
        <p:spPr>
          <a:xfrm>
            <a:off x="914400" y="1828800"/>
            <a:ext cx="103632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600" i="1" dirty="0">
                <a:solidFill>
                  <a:srgbClr val="1F6B82"/>
                </a:solidFill>
              </a:rPr>
              <a:t>Autoimmune diseases can affect the lungs — PFTs detect involvement early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399709-494D-408D-81BD-205A189351A2}"/>
              </a:ext>
            </a:extLst>
          </p:cNvPr>
          <p:cNvSpPr txBox="1"/>
          <p:nvPr/>
        </p:nvSpPr>
        <p:spPr>
          <a:xfrm>
            <a:off x="914400" y="2387600"/>
            <a:ext cx="50292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0E2A3A"/>
                </a:solidFill>
              </a:rPr>
              <a:t>Common diseases with lung involvement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0D3B7C-C708-46EA-AEB8-FAAD304B8319}"/>
              </a:ext>
            </a:extLst>
          </p:cNvPr>
          <p:cNvSpPr txBox="1"/>
          <p:nvPr/>
        </p:nvSpPr>
        <p:spPr>
          <a:xfrm>
            <a:off x="914400" y="2794000"/>
            <a:ext cx="5029200" cy="161582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 algn="l">
              <a:spcAft>
                <a:spcPts val="3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dirty="0">
                <a:solidFill>
                  <a:srgbClr val="0E2A3A"/>
                </a:solidFill>
              </a:rPr>
              <a:t>Systemic sclerosis</a:t>
            </a:r>
          </a:p>
          <a:p>
            <a:pPr marL="228600" indent="-228600" algn="l">
              <a:spcAft>
                <a:spcPts val="3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dirty="0">
                <a:solidFill>
                  <a:srgbClr val="0E2A3A"/>
                </a:solidFill>
              </a:rPr>
              <a:t>Rheumatoid arthritis</a:t>
            </a:r>
          </a:p>
          <a:p>
            <a:pPr marL="228600" indent="-228600" algn="l">
              <a:spcAft>
                <a:spcPts val="3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dirty="0">
                <a:solidFill>
                  <a:srgbClr val="0E2A3A"/>
                </a:solidFill>
              </a:rPr>
              <a:t>Idiopathic inflammatory myopathy</a:t>
            </a:r>
          </a:p>
          <a:p>
            <a:pPr marL="228600" indent="-228600" algn="l">
              <a:spcAft>
                <a:spcPts val="3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dirty="0">
                <a:solidFill>
                  <a:srgbClr val="0E2A3A"/>
                </a:solidFill>
              </a:rPr>
              <a:t>Sjögren's syndrome</a:t>
            </a:r>
          </a:p>
          <a:p>
            <a:pPr marL="228600" indent="-228600" algn="l">
              <a:spcAft>
                <a:spcPts val="6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dirty="0">
                <a:solidFill>
                  <a:srgbClr val="0E2A3A"/>
                </a:solidFill>
              </a:rPr>
              <a:t>Mixed connective tissue disease</a:t>
            </a:r>
          </a:p>
          <a:p>
            <a:pPr algn="l">
              <a:buNone/>
            </a:pPr>
            <a:r>
              <a:rPr lang="en-US" sz="1400" i="1" dirty="0">
                <a:solidFill>
                  <a:srgbClr val="1F6B82"/>
                </a:solidFill>
              </a:rPr>
              <a:t>Interstitial lung disease (ILD) is the most serious complication.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18B032-ED49-499A-BFDF-AAC164111C69}"/>
              </a:ext>
            </a:extLst>
          </p:cNvPr>
          <p:cNvSpPr txBox="1"/>
          <p:nvPr/>
        </p:nvSpPr>
        <p:spPr>
          <a:xfrm>
            <a:off x="6248400" y="2387600"/>
            <a:ext cx="50292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0E2A3A"/>
                </a:solidFill>
              </a:rPr>
              <a:t>Goals of PFTs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D2D6A2-9B45-48BB-8BA0-A9179D8E2501}"/>
              </a:ext>
            </a:extLst>
          </p:cNvPr>
          <p:cNvSpPr txBox="1"/>
          <p:nvPr/>
        </p:nvSpPr>
        <p:spPr>
          <a:xfrm>
            <a:off x="6248400" y="2794000"/>
            <a:ext cx="5029200" cy="106952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 algn="l">
              <a:spcAft>
                <a:spcPts val="3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dirty="0">
                <a:solidFill>
                  <a:srgbClr val="0E2A3A"/>
                </a:solidFill>
              </a:rPr>
              <a:t>Screen for lung involvement early</a:t>
            </a:r>
          </a:p>
          <a:p>
            <a:pPr marL="228600" indent="-228600" algn="l">
              <a:spcAft>
                <a:spcPts val="3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dirty="0">
                <a:solidFill>
                  <a:srgbClr val="0E2A3A"/>
                </a:solidFill>
              </a:rPr>
              <a:t>Monitor disease progression</a:t>
            </a:r>
          </a:p>
          <a:p>
            <a:pPr marL="228600" indent="-228600" algn="l">
              <a:spcAft>
                <a:spcPts val="3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dirty="0">
                <a:solidFill>
                  <a:srgbClr val="0E2A3A"/>
                </a:solidFill>
              </a:rPr>
              <a:t>Decide when to treat</a:t>
            </a:r>
          </a:p>
          <a:p>
            <a:pPr marL="228600" indent="-228600" algn="l">
              <a:buClr>
                <a:srgbClr val="1F6B82"/>
              </a:buClr>
              <a:buFont typeface="Arial"/>
              <a:buChar char="●"/>
            </a:pPr>
            <a:r>
              <a:rPr lang="en-US" sz="1400" dirty="0">
                <a:solidFill>
                  <a:srgbClr val="0E2A3A"/>
                </a:solidFill>
              </a:rPr>
              <a:t>Assess response to treatment</a:t>
            </a:r>
          </a:p>
        </p:txBody>
      </p:sp>
    </p:spTree>
    <p:extLst>
      <p:ext uri="{BB962C8B-B14F-4D97-AF65-F5344CB8AC3E}">
        <p14:creationId xmlns:p14="http://schemas.microsoft.com/office/powerpoint/2010/main" val="1793081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4F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2B2563-9DF7-476B-ACB5-750F0CFD1C3C}"/>
              </a:ext>
            </a:extLst>
          </p:cNvPr>
          <p:cNvSpPr txBox="1"/>
          <p:nvPr/>
        </p:nvSpPr>
        <p:spPr>
          <a:xfrm>
            <a:off x="914400" y="3556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E2A3A"/>
                </a:solidFill>
                <a:latin typeface="Calibri"/>
                <a:ea typeface="Calibri"/>
                <a:cs typeface="Calibri"/>
              </a:rPr>
              <a:t>PulmOne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8F754B-4D1D-435D-9506-8E0413C02F88}"/>
              </a:ext>
            </a:extLst>
          </p:cNvPr>
          <p:cNvSpPr txBox="1"/>
          <p:nvPr/>
        </p:nvSpPr>
        <p:spPr>
          <a:xfrm>
            <a:off x="914400" y="64516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1F6B82"/>
                </a:solidFill>
                <a:latin typeface="Calibri"/>
                <a:ea typeface="Calibri"/>
                <a:cs typeface="Calibri"/>
              </a:rPr>
              <a:t>RHEUMATOLOGY CLINIC TRAINING  • 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7B916E-B28B-418F-85D3-8075F346E3FF}"/>
              </a:ext>
            </a:extLst>
          </p:cNvPr>
          <p:cNvSpPr txBox="1"/>
          <p:nvPr/>
        </p:nvSpPr>
        <p:spPr>
          <a:xfrm>
            <a:off x="11176000" y="6451600"/>
            <a:ext cx="406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1F6B82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3EB238-A672-4D53-915E-B26A381A306E}"/>
              </a:ext>
            </a:extLst>
          </p:cNvPr>
          <p:cNvSpPr txBox="1"/>
          <p:nvPr/>
        </p:nvSpPr>
        <p:spPr>
          <a:xfrm>
            <a:off x="914400" y="1016000"/>
            <a:ext cx="10363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0E2A3A"/>
                </a:solidFill>
              </a:rPr>
              <a:t>What Is a Complete PFT?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CFF70F-3BCE-4373-8E79-2F62A4133F92}"/>
              </a:ext>
            </a:extLst>
          </p:cNvPr>
          <p:cNvSpPr/>
          <p:nvPr/>
        </p:nvSpPr>
        <p:spPr>
          <a:xfrm>
            <a:off x="914400" y="1676400"/>
            <a:ext cx="1016000" cy="38100"/>
          </a:xfrm>
          <a:prstGeom prst="rect">
            <a:avLst/>
          </a:prstGeom>
          <a:solidFill>
            <a:srgbClr val="1F6B8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366F6B-4393-4D36-AB39-776EC3509FBB}"/>
              </a:ext>
            </a:extLst>
          </p:cNvPr>
          <p:cNvSpPr txBox="1"/>
          <p:nvPr/>
        </p:nvSpPr>
        <p:spPr>
          <a:xfrm>
            <a:off x="914400" y="1828800"/>
            <a:ext cx="103632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600" i="1" dirty="0">
                <a:solidFill>
                  <a:srgbClr val="1F6B82"/>
                </a:solidFill>
              </a:rPr>
              <a:t>Always order complete PFTs in rheumatology clinic — never spirometry alone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D88F70-E14D-4014-AA5B-583F9F0C45BE}"/>
              </a:ext>
            </a:extLst>
          </p:cNvPr>
          <p:cNvSpPr txBox="1"/>
          <p:nvPr/>
        </p:nvSpPr>
        <p:spPr>
          <a:xfrm>
            <a:off x="914400" y="2387600"/>
            <a:ext cx="50292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0E2A3A"/>
                </a:solidFill>
              </a:rPr>
              <a:t>A complete PFT includes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81359D-2602-4414-B798-F7A1D89FC85E}"/>
              </a:ext>
            </a:extLst>
          </p:cNvPr>
          <p:cNvSpPr txBox="1"/>
          <p:nvPr/>
        </p:nvSpPr>
        <p:spPr>
          <a:xfrm>
            <a:off x="914400" y="2794000"/>
            <a:ext cx="5029200" cy="170559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 algn="l">
              <a:spcAft>
                <a:spcPts val="2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b="1" dirty="0">
                <a:solidFill>
                  <a:srgbClr val="0E2A3A"/>
                </a:solidFill>
              </a:rPr>
              <a:t>Spirometry</a:t>
            </a:r>
          </a:p>
          <a:p>
            <a:pPr marL="457200" lvl="1" indent="-228600" algn="l">
              <a:spcAft>
                <a:spcPts val="300"/>
              </a:spcAft>
              <a:buClr>
                <a:srgbClr val="1F6B82"/>
              </a:buClr>
              <a:buFont typeface="Arial"/>
              <a:buChar char="○"/>
            </a:pPr>
            <a:r>
              <a:rPr lang="en-US" sz="1300" dirty="0">
                <a:solidFill>
                  <a:srgbClr val="0E2A3A"/>
                </a:solidFill>
              </a:rPr>
              <a:t>FVC, FEV₁, FEV₁/FVC ratio</a:t>
            </a:r>
          </a:p>
          <a:p>
            <a:pPr marL="228600" indent="-228600" algn="l">
              <a:spcAft>
                <a:spcPts val="2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b="1" dirty="0">
                <a:solidFill>
                  <a:srgbClr val="0E2A3A"/>
                </a:solidFill>
              </a:rPr>
              <a:t>Lung volumes</a:t>
            </a:r>
          </a:p>
          <a:p>
            <a:pPr marL="457200" lvl="1" indent="-228600" algn="l">
              <a:spcAft>
                <a:spcPts val="300"/>
              </a:spcAft>
              <a:buClr>
                <a:srgbClr val="1F6B82"/>
              </a:buClr>
              <a:buFont typeface="Arial"/>
              <a:buChar char="○"/>
            </a:pPr>
            <a:r>
              <a:rPr lang="en-US" sz="1300" dirty="0">
                <a:solidFill>
                  <a:srgbClr val="0E2A3A"/>
                </a:solidFill>
              </a:rPr>
              <a:t>TLC (total lung capacity)</a:t>
            </a:r>
          </a:p>
          <a:p>
            <a:pPr marL="228600" indent="-228600" algn="l">
              <a:spcAft>
                <a:spcPts val="2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b="1" dirty="0">
                <a:solidFill>
                  <a:srgbClr val="0E2A3A"/>
                </a:solidFill>
              </a:rPr>
              <a:t>DLCO</a:t>
            </a:r>
          </a:p>
          <a:p>
            <a:pPr marL="457200" lvl="1" indent="-228600" algn="l">
              <a:spcAft>
                <a:spcPts val="100"/>
              </a:spcAft>
              <a:buClr>
                <a:srgbClr val="1F6B82"/>
              </a:buClr>
              <a:buFont typeface="Arial"/>
              <a:buChar char="○"/>
            </a:pPr>
            <a:r>
              <a:rPr lang="en-US" sz="1300" dirty="0">
                <a:solidFill>
                  <a:srgbClr val="0E2A3A"/>
                </a:solidFill>
              </a:rPr>
              <a:t>Diffusing capacity</a:t>
            </a:r>
          </a:p>
          <a:p>
            <a:pPr marL="457200" lvl="1" indent="-228600" algn="l">
              <a:buClr>
                <a:srgbClr val="1F6B82"/>
              </a:buClr>
              <a:buFont typeface="Arial"/>
              <a:buChar char="○"/>
            </a:pPr>
            <a:r>
              <a:rPr lang="en-US" sz="1300" dirty="0">
                <a:solidFill>
                  <a:srgbClr val="0E2A3A"/>
                </a:solidFill>
              </a:rPr>
              <a:t>Often the earliest abnormal test in ILD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216B82-15C7-4BA6-9967-4820F0D93004}"/>
              </a:ext>
            </a:extLst>
          </p:cNvPr>
          <p:cNvSpPr/>
          <p:nvPr/>
        </p:nvSpPr>
        <p:spPr>
          <a:xfrm>
            <a:off x="6248400" y="2387600"/>
            <a:ext cx="5029200" cy="3556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1F6B8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565009-3FD3-4A91-A618-31D36339EC68}"/>
              </a:ext>
            </a:extLst>
          </p:cNvPr>
          <p:cNvSpPr txBox="1"/>
          <p:nvPr/>
        </p:nvSpPr>
        <p:spPr>
          <a:xfrm>
            <a:off x="6502400" y="2590800"/>
            <a:ext cx="4572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1F6B82"/>
                </a:solidFill>
              </a:rPr>
              <a:t>Very Important Teaching Point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D0E77A-9A84-4F97-8848-C88787FF9454}"/>
              </a:ext>
            </a:extLst>
          </p:cNvPr>
          <p:cNvSpPr txBox="1"/>
          <p:nvPr/>
        </p:nvSpPr>
        <p:spPr>
          <a:xfrm>
            <a:off x="6502400" y="2997200"/>
            <a:ext cx="4572000" cy="160300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E2A3A"/>
                </a:solidFill>
              </a:rPr>
              <a:t>Normal spirometry does NOT rule out ILD.</a:t>
            </a: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0E2A3A"/>
                </a:solidFill>
              </a:rPr>
              <a:t>Patients can have:</a:t>
            </a:r>
          </a:p>
          <a:p>
            <a:pPr marL="228600" indent="-228600" algn="l">
              <a:spcAft>
                <a:spcPts val="2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dirty="0">
                <a:solidFill>
                  <a:srgbClr val="0E2A3A"/>
                </a:solidFill>
              </a:rPr>
              <a:t>Normal FVC</a:t>
            </a:r>
          </a:p>
          <a:p>
            <a:pPr marL="228600" indent="-228600" algn="l">
              <a:spcAft>
                <a:spcPts val="2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dirty="0">
                <a:solidFill>
                  <a:srgbClr val="0E2A3A"/>
                </a:solidFill>
              </a:rPr>
              <a:t>But abnormal DLCO</a:t>
            </a:r>
          </a:p>
          <a:p>
            <a:pPr marL="228600" indent="-228600" algn="l">
              <a:spcAft>
                <a:spcPts val="5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dirty="0">
                <a:solidFill>
                  <a:srgbClr val="0E2A3A"/>
                </a:solidFill>
              </a:rPr>
              <a:t>And significant ILD on HRCT</a:t>
            </a:r>
          </a:p>
          <a:p>
            <a:pPr algn="l">
              <a:buNone/>
            </a:pPr>
            <a:r>
              <a:rPr lang="en-US" sz="1400" i="1" dirty="0">
                <a:solidFill>
                  <a:srgbClr val="1F6B82"/>
                </a:solidFill>
              </a:rPr>
              <a:t>Never rely on spirometry alone.</a:t>
            </a:r>
          </a:p>
        </p:txBody>
      </p:sp>
    </p:spTree>
    <p:extLst>
      <p:ext uri="{BB962C8B-B14F-4D97-AF65-F5344CB8AC3E}">
        <p14:creationId xmlns:p14="http://schemas.microsoft.com/office/powerpoint/2010/main" val="1899756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4F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65125C-017F-4134-ACFF-22873D78CC7A}"/>
              </a:ext>
            </a:extLst>
          </p:cNvPr>
          <p:cNvSpPr txBox="1"/>
          <p:nvPr/>
        </p:nvSpPr>
        <p:spPr>
          <a:xfrm>
            <a:off x="914400" y="3556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E2A3A"/>
                </a:solidFill>
                <a:latin typeface="Calibri"/>
                <a:ea typeface="Calibri"/>
                <a:cs typeface="Calibri"/>
              </a:rPr>
              <a:t>PulmOne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A96AC4-1992-46E0-B644-FA819CB3A6E8}"/>
              </a:ext>
            </a:extLst>
          </p:cNvPr>
          <p:cNvSpPr txBox="1"/>
          <p:nvPr/>
        </p:nvSpPr>
        <p:spPr>
          <a:xfrm>
            <a:off x="914400" y="64516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1F6B82"/>
                </a:solidFill>
                <a:latin typeface="Calibri"/>
                <a:ea typeface="Calibri"/>
                <a:cs typeface="Calibri"/>
              </a:rPr>
              <a:t>RHEUMATOLOGY CLINIC TRAINING  • 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A58E5-5821-4DB2-A455-055D40F5D928}"/>
              </a:ext>
            </a:extLst>
          </p:cNvPr>
          <p:cNvSpPr txBox="1"/>
          <p:nvPr/>
        </p:nvSpPr>
        <p:spPr>
          <a:xfrm>
            <a:off x="11176000" y="6451600"/>
            <a:ext cx="406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1F6B82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A7D3B6-EEF7-4567-B600-A0FF73079C1E}"/>
              </a:ext>
            </a:extLst>
          </p:cNvPr>
          <p:cNvSpPr txBox="1"/>
          <p:nvPr/>
        </p:nvSpPr>
        <p:spPr>
          <a:xfrm>
            <a:off x="914400" y="1016000"/>
            <a:ext cx="10363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0E2A3A"/>
                </a:solidFill>
              </a:rPr>
              <a:t>When to Order PFTs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6275CE-047F-47FE-93A7-BBD6C4A9E808}"/>
              </a:ext>
            </a:extLst>
          </p:cNvPr>
          <p:cNvSpPr/>
          <p:nvPr/>
        </p:nvSpPr>
        <p:spPr>
          <a:xfrm>
            <a:off x="914400" y="1676400"/>
            <a:ext cx="1016000" cy="38100"/>
          </a:xfrm>
          <a:prstGeom prst="rect">
            <a:avLst/>
          </a:prstGeom>
          <a:solidFill>
            <a:srgbClr val="1F6B8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CCEC67-D5F3-417C-BA99-F68D1D4833B7}"/>
              </a:ext>
            </a:extLst>
          </p:cNvPr>
          <p:cNvSpPr txBox="1"/>
          <p:nvPr/>
        </p:nvSpPr>
        <p:spPr>
          <a:xfrm>
            <a:off x="914400" y="1828800"/>
            <a:ext cx="103632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600" i="1" dirty="0">
                <a:solidFill>
                  <a:srgbClr val="1F6B82"/>
                </a:solidFill>
              </a:rPr>
              <a:t>Practical baseline screening and ongoing monitoring intervals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B81791-2D39-421E-9301-1C3F89E347BB}"/>
              </a:ext>
            </a:extLst>
          </p:cNvPr>
          <p:cNvSpPr txBox="1"/>
          <p:nvPr/>
        </p:nvSpPr>
        <p:spPr>
          <a:xfrm>
            <a:off x="914400" y="2387600"/>
            <a:ext cx="50292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0E2A3A"/>
                </a:solidFill>
              </a:rPr>
              <a:t>At diagnosis (baseline)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2CCB05-4398-4E13-BC77-397587A042D7}"/>
              </a:ext>
            </a:extLst>
          </p:cNvPr>
          <p:cNvSpPr txBox="1"/>
          <p:nvPr/>
        </p:nvSpPr>
        <p:spPr>
          <a:xfrm>
            <a:off x="914400" y="2794000"/>
            <a:ext cx="5029200" cy="157222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 algn="l">
              <a:spcAft>
                <a:spcPts val="4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b="1" dirty="0">
                <a:solidFill>
                  <a:srgbClr val="0E2A3A"/>
                </a:solidFill>
              </a:rPr>
              <a:t>Systemic sclerosis</a:t>
            </a:r>
            <a:r>
              <a:rPr lang="en-US" sz="1400" dirty="0">
                <a:solidFill>
                  <a:srgbClr val="0E2A3A"/>
                </a:solidFill>
              </a:rPr>
              <a:t> — everyone gets HRCT chest + complete PFT</a:t>
            </a:r>
          </a:p>
          <a:p>
            <a:pPr marL="228600" indent="-228600" algn="l">
              <a:spcAft>
                <a:spcPts val="4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b="1" dirty="0">
                <a:solidFill>
                  <a:srgbClr val="0E2A3A"/>
                </a:solidFill>
              </a:rPr>
              <a:t>Myositis</a:t>
            </a:r>
            <a:r>
              <a:rPr lang="en-US" sz="1400" dirty="0">
                <a:solidFill>
                  <a:srgbClr val="0E2A3A"/>
                </a:solidFill>
              </a:rPr>
              <a:t> — screen high-risk patients</a:t>
            </a:r>
          </a:p>
          <a:p>
            <a:pPr marL="228600" indent="-228600" algn="l">
              <a:spcAft>
                <a:spcPts val="2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b="1" dirty="0">
                <a:solidFill>
                  <a:srgbClr val="0E2A3A"/>
                </a:solidFill>
              </a:rPr>
              <a:t>RA or Sjögren's</a:t>
            </a:r>
            <a:r>
              <a:rPr lang="en-US" sz="1400" dirty="0">
                <a:solidFill>
                  <a:srgbClr val="0E2A3A"/>
                </a:solidFill>
              </a:rPr>
              <a:t> — screen if symptoms or risk factors:</a:t>
            </a:r>
          </a:p>
          <a:p>
            <a:pPr marL="457200" lvl="1" indent="-228600" algn="l">
              <a:spcAft>
                <a:spcPts val="200"/>
              </a:spcAft>
              <a:buClr>
                <a:srgbClr val="1F6B82"/>
              </a:buClr>
              <a:buFont typeface="Arial"/>
              <a:buChar char="○"/>
            </a:pPr>
            <a:r>
              <a:rPr lang="en-US" sz="1300" dirty="0">
                <a:solidFill>
                  <a:srgbClr val="0E2A3A"/>
                </a:solidFill>
              </a:rPr>
              <a:t>Dyspnea or chronic cough</a:t>
            </a:r>
          </a:p>
          <a:p>
            <a:pPr marL="457200" lvl="1" indent="-228600" algn="l">
              <a:spcAft>
                <a:spcPts val="500"/>
              </a:spcAft>
              <a:buClr>
                <a:srgbClr val="1F6B82"/>
              </a:buClr>
              <a:buFont typeface="Arial"/>
              <a:buChar char="○"/>
            </a:pPr>
            <a:r>
              <a:rPr lang="en-US" sz="1300" dirty="0">
                <a:solidFill>
                  <a:srgbClr val="0E2A3A"/>
                </a:solidFill>
              </a:rPr>
              <a:t>Seropositive RA, smoking history, high inflammatory markers</a:t>
            </a:r>
          </a:p>
          <a:p>
            <a:pPr algn="l">
              <a:buNone/>
            </a:pPr>
            <a:r>
              <a:rPr lang="en-US" sz="1400" i="1" dirty="0">
                <a:solidFill>
                  <a:srgbClr val="1F6B82"/>
                </a:solidFill>
              </a:rPr>
              <a:t>Baseline PFT is your comparison point for the future.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D272A5-8FDE-4ED7-9F49-868EAFE9B001}"/>
              </a:ext>
            </a:extLst>
          </p:cNvPr>
          <p:cNvSpPr txBox="1"/>
          <p:nvPr/>
        </p:nvSpPr>
        <p:spPr>
          <a:xfrm>
            <a:off x="6248400" y="2387600"/>
            <a:ext cx="50292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0E2A3A"/>
                </a:solidFill>
              </a:rPr>
              <a:t>Monitoring frequency (simple rule)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12CFD2-FB71-45AF-9CAF-A6DE7630158B}"/>
              </a:ext>
            </a:extLst>
          </p:cNvPr>
          <p:cNvSpPr txBox="1"/>
          <p:nvPr/>
        </p:nvSpPr>
        <p:spPr>
          <a:xfrm>
            <a:off x="6248400" y="2794000"/>
            <a:ext cx="5029200" cy="133369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2A3A"/>
                </a:solidFill>
              </a:rPr>
              <a:t>If ILD is diagnosed:</a:t>
            </a:r>
          </a:p>
          <a:p>
            <a:pPr marL="228600" indent="-228600" algn="l">
              <a:spcAft>
                <a:spcPts val="3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b="1" dirty="0">
                <a:solidFill>
                  <a:srgbClr val="0E2A3A"/>
                </a:solidFill>
              </a:rPr>
              <a:t>First year</a:t>
            </a:r>
            <a:r>
              <a:rPr lang="en-US" sz="1400" dirty="0">
                <a:solidFill>
                  <a:srgbClr val="0E2A3A"/>
                </a:solidFill>
              </a:rPr>
              <a:t> — every 3–6 months</a:t>
            </a:r>
          </a:p>
          <a:p>
            <a:pPr marL="457200" lvl="1" indent="-228600" algn="l">
              <a:spcAft>
                <a:spcPts val="400"/>
              </a:spcAft>
              <a:buClr>
                <a:srgbClr val="1F6B82"/>
              </a:buClr>
              <a:buFont typeface="Arial"/>
              <a:buChar char="○"/>
            </a:pPr>
            <a:r>
              <a:rPr lang="en-US" sz="1300" dirty="0">
                <a:solidFill>
                  <a:srgbClr val="0E2A3A"/>
                </a:solidFill>
              </a:rPr>
              <a:t>Especially for SSc or myositis</a:t>
            </a:r>
          </a:p>
          <a:p>
            <a:pPr marL="228600" indent="-228600" algn="l">
              <a:spcAft>
                <a:spcPts val="3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b="1" dirty="0">
                <a:solidFill>
                  <a:srgbClr val="0E2A3A"/>
                </a:solidFill>
              </a:rPr>
              <a:t>After stable</a:t>
            </a:r>
            <a:r>
              <a:rPr lang="en-US" sz="1400" dirty="0">
                <a:solidFill>
                  <a:srgbClr val="0E2A3A"/>
                </a:solidFill>
              </a:rPr>
              <a:t> — every 6–12 months</a:t>
            </a:r>
          </a:p>
          <a:p>
            <a:pPr marL="228600" indent="-228600" algn="l">
              <a:buClr>
                <a:srgbClr val="1F6B82"/>
              </a:buClr>
              <a:buFont typeface="Arial"/>
              <a:buChar char="●"/>
            </a:pPr>
            <a:r>
              <a:rPr lang="en-US" sz="1400" b="1" dirty="0">
                <a:solidFill>
                  <a:srgbClr val="0E2A3A"/>
                </a:solidFill>
              </a:rPr>
              <a:t>If symptoms worsen</a:t>
            </a:r>
            <a:r>
              <a:rPr lang="en-US" sz="1400" dirty="0">
                <a:solidFill>
                  <a:srgbClr val="0E2A3A"/>
                </a:solidFill>
              </a:rPr>
              <a:t> — repeat sooner</a:t>
            </a:r>
          </a:p>
        </p:txBody>
      </p:sp>
    </p:spTree>
    <p:extLst>
      <p:ext uri="{BB962C8B-B14F-4D97-AF65-F5344CB8AC3E}">
        <p14:creationId xmlns:p14="http://schemas.microsoft.com/office/powerpoint/2010/main" val="4165106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4F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BBBD2A-2EF8-4ABB-8CAC-7966A2BEB1CF}"/>
              </a:ext>
            </a:extLst>
          </p:cNvPr>
          <p:cNvSpPr txBox="1"/>
          <p:nvPr/>
        </p:nvSpPr>
        <p:spPr>
          <a:xfrm>
            <a:off x="914400" y="3556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E2A3A"/>
                </a:solidFill>
                <a:latin typeface="Calibri"/>
                <a:ea typeface="Calibri"/>
                <a:cs typeface="Calibri"/>
              </a:rPr>
              <a:t>PulmOne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34AAC5-0678-4F44-A789-20AF974A0518}"/>
              </a:ext>
            </a:extLst>
          </p:cNvPr>
          <p:cNvSpPr txBox="1"/>
          <p:nvPr/>
        </p:nvSpPr>
        <p:spPr>
          <a:xfrm>
            <a:off x="914400" y="64516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1F6B82"/>
                </a:solidFill>
                <a:latin typeface="Calibri"/>
                <a:ea typeface="Calibri"/>
                <a:cs typeface="Calibri"/>
              </a:rPr>
              <a:t>RHEUMATOLOGY CLINIC TRAINING  • 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017FC1-C4E0-4B47-8B0A-F59DD894E22D}"/>
              </a:ext>
            </a:extLst>
          </p:cNvPr>
          <p:cNvSpPr txBox="1"/>
          <p:nvPr/>
        </p:nvSpPr>
        <p:spPr>
          <a:xfrm>
            <a:off x="11176000" y="6451600"/>
            <a:ext cx="406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1F6B82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A81D9B-4519-44DC-BE08-0A6FD8195FAF}"/>
              </a:ext>
            </a:extLst>
          </p:cNvPr>
          <p:cNvSpPr txBox="1"/>
          <p:nvPr/>
        </p:nvSpPr>
        <p:spPr>
          <a:xfrm>
            <a:off x="914400" y="1016000"/>
            <a:ext cx="10363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0E2A3A"/>
                </a:solidFill>
              </a:rPr>
              <a:t>What Changes Are Concerning?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DC0BB6-BD1A-46B8-A402-86008B0146DA}"/>
              </a:ext>
            </a:extLst>
          </p:cNvPr>
          <p:cNvSpPr/>
          <p:nvPr/>
        </p:nvSpPr>
        <p:spPr>
          <a:xfrm>
            <a:off x="914400" y="1676400"/>
            <a:ext cx="1016000" cy="38100"/>
          </a:xfrm>
          <a:prstGeom prst="rect">
            <a:avLst/>
          </a:prstGeom>
          <a:solidFill>
            <a:srgbClr val="1F6B8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FE5D46-20E0-4294-A088-473C37E36232}"/>
              </a:ext>
            </a:extLst>
          </p:cNvPr>
          <p:cNvSpPr txBox="1"/>
          <p:nvPr/>
        </p:nvSpPr>
        <p:spPr>
          <a:xfrm>
            <a:off x="914400" y="1828800"/>
            <a:ext cx="103632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600" i="1" dirty="0">
                <a:solidFill>
                  <a:srgbClr val="1F6B82"/>
                </a:solidFill>
              </a:rPr>
              <a:t>Simple thresholds to teach your team — and what NOT to use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C42F16-9A1E-40D3-9C15-C3EB8552C2E7}"/>
              </a:ext>
            </a:extLst>
          </p:cNvPr>
          <p:cNvSpPr txBox="1"/>
          <p:nvPr/>
        </p:nvSpPr>
        <p:spPr>
          <a:xfrm>
            <a:off x="914400" y="2387600"/>
            <a:ext cx="50292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0E2A3A"/>
                </a:solidFill>
              </a:rPr>
              <a:t>Concerning thresholds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44FD27-9AE3-4883-AA81-23F05CE1E8F8}"/>
              </a:ext>
            </a:extLst>
          </p:cNvPr>
          <p:cNvSpPr txBox="1"/>
          <p:nvPr/>
        </p:nvSpPr>
        <p:spPr>
          <a:xfrm>
            <a:off x="914400" y="2794000"/>
            <a:ext cx="5029200" cy="113364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 algn="l">
              <a:spcAft>
                <a:spcPts val="4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b="1" dirty="0">
                <a:solidFill>
                  <a:srgbClr val="0E2A3A"/>
                </a:solidFill>
              </a:rPr>
              <a:t>FVC drop ≥ 5%</a:t>
            </a:r>
            <a:r>
              <a:rPr lang="en-US" sz="1400" dirty="0">
                <a:solidFill>
                  <a:srgbClr val="0E2A3A"/>
                </a:solidFill>
              </a:rPr>
              <a:t>  →  concerning</a:t>
            </a:r>
          </a:p>
          <a:p>
            <a:pPr marL="228600" indent="-228600" algn="l">
              <a:spcAft>
                <a:spcPts val="4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b="1" dirty="0">
                <a:solidFill>
                  <a:srgbClr val="0E2A3A"/>
                </a:solidFill>
              </a:rPr>
              <a:t>FVC drop ≥ 10%</a:t>
            </a:r>
            <a:r>
              <a:rPr lang="en-US" sz="1400" dirty="0">
                <a:solidFill>
                  <a:srgbClr val="0E2A3A"/>
                </a:solidFill>
              </a:rPr>
              <a:t>  →  significant progression</a:t>
            </a:r>
          </a:p>
          <a:p>
            <a:pPr marL="228600" indent="-228600" algn="l">
              <a:spcAft>
                <a:spcPts val="6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b="1" dirty="0">
                <a:solidFill>
                  <a:srgbClr val="0E2A3A"/>
                </a:solidFill>
              </a:rPr>
              <a:t>DLCO drop ≥ 10–15%</a:t>
            </a:r>
            <a:r>
              <a:rPr lang="en-US" sz="1400" dirty="0">
                <a:solidFill>
                  <a:srgbClr val="0E2A3A"/>
                </a:solidFill>
              </a:rPr>
              <a:t>  →  concerning</a:t>
            </a:r>
          </a:p>
          <a:p>
            <a:pPr algn="l">
              <a:buNone/>
            </a:pPr>
            <a:r>
              <a:rPr lang="en-US" sz="1400" i="1" dirty="0">
                <a:solidFill>
                  <a:srgbClr val="1F6B82"/>
                </a:solidFill>
              </a:rPr>
              <a:t>Trend over time is more important than any single value.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2259CE-F1EF-48EB-B870-C7B0FDB7B72F}"/>
              </a:ext>
            </a:extLst>
          </p:cNvPr>
          <p:cNvSpPr txBox="1"/>
          <p:nvPr/>
        </p:nvSpPr>
        <p:spPr>
          <a:xfrm>
            <a:off x="6248400" y="2387600"/>
            <a:ext cx="50292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C5532A"/>
                </a:solidFill>
              </a:rPr>
              <a:t>What NOT to use for routine monitoring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F7A784-9A34-485A-A277-E4F6F1CF58F3}"/>
              </a:ext>
            </a:extLst>
          </p:cNvPr>
          <p:cNvSpPr txBox="1"/>
          <p:nvPr/>
        </p:nvSpPr>
        <p:spPr>
          <a:xfrm>
            <a:off x="6248400" y="2794000"/>
            <a:ext cx="5029200" cy="161582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E2A3A"/>
                </a:solidFill>
              </a:rPr>
              <a:t>Do NOT rely on:</a:t>
            </a:r>
          </a:p>
          <a:p>
            <a:pPr marL="228600" indent="-228600" algn="l">
              <a:spcAft>
                <a:spcPts val="300"/>
              </a:spcAft>
              <a:buClr>
                <a:srgbClr val="C5532A"/>
              </a:buClr>
              <a:buFont typeface="Arial"/>
              <a:buChar char="✕"/>
            </a:pPr>
            <a:r>
              <a:rPr lang="en-US" sz="1400" dirty="0">
                <a:solidFill>
                  <a:srgbClr val="0E2A3A"/>
                </a:solidFill>
              </a:rPr>
              <a:t>Chest X-ray</a:t>
            </a:r>
          </a:p>
          <a:p>
            <a:pPr marL="228600" indent="-228600" algn="l">
              <a:spcAft>
                <a:spcPts val="300"/>
              </a:spcAft>
              <a:buClr>
                <a:srgbClr val="C5532A"/>
              </a:buClr>
              <a:buFont typeface="Arial"/>
              <a:buChar char="✕"/>
            </a:pPr>
            <a:r>
              <a:rPr lang="en-US" sz="1400" dirty="0">
                <a:solidFill>
                  <a:srgbClr val="0E2A3A"/>
                </a:solidFill>
              </a:rPr>
              <a:t>6-minute walk distance alone</a:t>
            </a:r>
          </a:p>
          <a:p>
            <a:pPr marL="228600" indent="-228600" algn="l">
              <a:spcAft>
                <a:spcPts val="300"/>
              </a:spcAft>
              <a:buClr>
                <a:srgbClr val="C5532A"/>
              </a:buClr>
              <a:buFont typeface="Arial"/>
              <a:buChar char="✕"/>
            </a:pPr>
            <a:r>
              <a:rPr lang="en-US" sz="1400" dirty="0">
                <a:solidFill>
                  <a:srgbClr val="0E2A3A"/>
                </a:solidFill>
              </a:rPr>
              <a:t>Bronchoscopy</a:t>
            </a:r>
          </a:p>
          <a:p>
            <a:pPr marL="228600" indent="-228600" algn="l">
              <a:spcAft>
                <a:spcPts val="600"/>
              </a:spcAft>
              <a:buClr>
                <a:srgbClr val="C5532A"/>
              </a:buClr>
              <a:buFont typeface="Arial"/>
              <a:buChar char="✕"/>
            </a:pPr>
            <a:r>
              <a:rPr lang="en-US" sz="1400" dirty="0">
                <a:solidFill>
                  <a:srgbClr val="0E2A3A"/>
                </a:solidFill>
              </a:rPr>
              <a:t>Surgical lung biopsy (unless special case)</a:t>
            </a:r>
          </a:p>
          <a:p>
            <a:pPr algn="l">
              <a:buNone/>
            </a:pPr>
            <a:r>
              <a:rPr lang="en-US" sz="1400" i="1" dirty="0">
                <a:solidFill>
                  <a:srgbClr val="1F6B82"/>
                </a:solidFill>
              </a:rPr>
              <a:t>HRCT + complete PFTs are the primary monitoring tools.</a:t>
            </a:r>
          </a:p>
        </p:txBody>
      </p:sp>
    </p:spTree>
    <p:extLst>
      <p:ext uri="{BB962C8B-B14F-4D97-AF65-F5344CB8AC3E}">
        <p14:creationId xmlns:p14="http://schemas.microsoft.com/office/powerpoint/2010/main" val="3461565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4F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D04DF5-8B6B-4E28-BEAE-80F681E1A044}"/>
              </a:ext>
            </a:extLst>
          </p:cNvPr>
          <p:cNvSpPr txBox="1"/>
          <p:nvPr/>
        </p:nvSpPr>
        <p:spPr>
          <a:xfrm>
            <a:off x="914400" y="3556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E2A3A"/>
                </a:solidFill>
                <a:latin typeface="Calibri"/>
                <a:ea typeface="Calibri"/>
                <a:cs typeface="Calibri"/>
              </a:rPr>
              <a:t>PulmOne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D6B9E5-2A18-456E-B541-E5536F07B230}"/>
              </a:ext>
            </a:extLst>
          </p:cNvPr>
          <p:cNvSpPr txBox="1"/>
          <p:nvPr/>
        </p:nvSpPr>
        <p:spPr>
          <a:xfrm>
            <a:off x="914400" y="64516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1F6B82"/>
                </a:solidFill>
                <a:latin typeface="Calibri"/>
                <a:ea typeface="Calibri"/>
                <a:cs typeface="Calibri"/>
              </a:rPr>
              <a:t>RHEUMATOLOGY CLINIC TRAINING  • 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A79253-8F0E-4E59-803F-502782505318}"/>
              </a:ext>
            </a:extLst>
          </p:cNvPr>
          <p:cNvSpPr txBox="1"/>
          <p:nvPr/>
        </p:nvSpPr>
        <p:spPr>
          <a:xfrm>
            <a:off x="11176000" y="6451600"/>
            <a:ext cx="406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1F6B82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739E56-C096-4710-9D30-16D8451F5255}"/>
              </a:ext>
            </a:extLst>
          </p:cNvPr>
          <p:cNvSpPr txBox="1"/>
          <p:nvPr/>
        </p:nvSpPr>
        <p:spPr>
          <a:xfrm>
            <a:off x="914400" y="1016000"/>
            <a:ext cx="10363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0E2A3A"/>
                </a:solidFill>
              </a:rPr>
              <a:t>How to Read a PFT in 4 Steps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CB6F41-A505-4719-966F-ABB4CE835313}"/>
              </a:ext>
            </a:extLst>
          </p:cNvPr>
          <p:cNvSpPr/>
          <p:nvPr/>
        </p:nvSpPr>
        <p:spPr>
          <a:xfrm>
            <a:off x="914400" y="1676400"/>
            <a:ext cx="1016000" cy="38100"/>
          </a:xfrm>
          <a:prstGeom prst="rect">
            <a:avLst/>
          </a:prstGeom>
          <a:solidFill>
            <a:srgbClr val="1F6B8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41E130-DFB6-4296-9003-DFC14386FD35}"/>
              </a:ext>
            </a:extLst>
          </p:cNvPr>
          <p:cNvSpPr txBox="1"/>
          <p:nvPr/>
        </p:nvSpPr>
        <p:spPr>
          <a:xfrm>
            <a:off x="914400" y="1828800"/>
            <a:ext cx="103632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600" i="1" dirty="0">
                <a:solidFill>
                  <a:srgbClr val="1F6B82"/>
                </a:solidFill>
              </a:rPr>
              <a:t>Teach your team this sequence — every PFT report, every time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D16BB3-EEA7-47FA-A066-0BE053343106}"/>
              </a:ext>
            </a:extLst>
          </p:cNvPr>
          <p:cNvSpPr/>
          <p:nvPr/>
        </p:nvSpPr>
        <p:spPr>
          <a:xfrm>
            <a:off x="914400" y="2540000"/>
            <a:ext cx="2476500" cy="304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0DCE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2769AF5-E40A-413D-B1A2-68D8769885B4}"/>
              </a:ext>
            </a:extLst>
          </p:cNvPr>
          <p:cNvSpPr/>
          <p:nvPr/>
        </p:nvSpPr>
        <p:spPr>
          <a:xfrm>
            <a:off x="1117600" y="2743200"/>
            <a:ext cx="457200" cy="457200"/>
          </a:xfrm>
          <a:prstGeom prst="ellipse">
            <a:avLst/>
          </a:prstGeom>
          <a:solidFill>
            <a:srgbClr val="1F6B8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BFE669-CF65-481B-A241-636FEB35F8E4}"/>
              </a:ext>
            </a:extLst>
          </p:cNvPr>
          <p:cNvSpPr txBox="1"/>
          <p:nvPr/>
        </p:nvSpPr>
        <p:spPr>
          <a:xfrm>
            <a:off x="1117600" y="3352800"/>
            <a:ext cx="20701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0E2A3A"/>
                </a:solidFill>
              </a:rPr>
              <a:t>FVC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ECFBFA-082E-4F29-B7F8-33E9F2C4042C}"/>
              </a:ext>
            </a:extLst>
          </p:cNvPr>
          <p:cNvSpPr txBox="1"/>
          <p:nvPr/>
        </p:nvSpPr>
        <p:spPr>
          <a:xfrm>
            <a:off x="1117600" y="3759200"/>
            <a:ext cx="2070100" cy="100540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2A3A"/>
                </a:solidFill>
              </a:rPr>
              <a:t>If low, think restriction.</a:t>
            </a:r>
          </a:p>
          <a:p>
            <a:pPr algn="l">
              <a:buNone/>
            </a:pPr>
            <a:r>
              <a:rPr lang="en-US" sz="1400" i="1" dirty="0">
                <a:solidFill>
                  <a:srgbClr val="1F6B82"/>
                </a:solidFill>
              </a:rPr>
              <a:t>First marker of a restrictive pattern characteristic of ILD.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17D1D3-C5C5-4DA4-B31A-8890B007485E}"/>
              </a:ext>
            </a:extLst>
          </p:cNvPr>
          <p:cNvSpPr/>
          <p:nvPr/>
        </p:nvSpPr>
        <p:spPr>
          <a:xfrm>
            <a:off x="3543300" y="2540000"/>
            <a:ext cx="2476500" cy="304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0DCE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261860F-4ACA-4889-8CD2-9DF4A5BA7C1F}"/>
              </a:ext>
            </a:extLst>
          </p:cNvPr>
          <p:cNvSpPr/>
          <p:nvPr/>
        </p:nvSpPr>
        <p:spPr>
          <a:xfrm>
            <a:off x="3746500" y="2743200"/>
            <a:ext cx="457200" cy="457200"/>
          </a:xfrm>
          <a:prstGeom prst="ellipse">
            <a:avLst/>
          </a:prstGeom>
          <a:solidFill>
            <a:srgbClr val="1F6B8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410FD3-814B-4EF4-AACC-279E9FB0AA2B}"/>
              </a:ext>
            </a:extLst>
          </p:cNvPr>
          <p:cNvSpPr txBox="1"/>
          <p:nvPr/>
        </p:nvSpPr>
        <p:spPr>
          <a:xfrm>
            <a:off x="3746500" y="3352800"/>
            <a:ext cx="20701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0E2A3A"/>
                </a:solidFill>
              </a:rPr>
              <a:t>TLC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AB4FF4-0DDF-48B0-A786-7CB57A04E440}"/>
              </a:ext>
            </a:extLst>
          </p:cNvPr>
          <p:cNvSpPr txBox="1"/>
          <p:nvPr/>
        </p:nvSpPr>
        <p:spPr>
          <a:xfrm>
            <a:off x="3746500" y="3759200"/>
            <a:ext cx="2070100" cy="100540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2A3A"/>
                </a:solidFill>
              </a:rPr>
              <a:t>If low, confirms restriction.</a:t>
            </a:r>
          </a:p>
          <a:p>
            <a:pPr algn="l">
              <a:buNone/>
            </a:pPr>
            <a:r>
              <a:rPr lang="en-US" sz="1400" i="1" dirty="0">
                <a:solidFill>
                  <a:srgbClr val="1F6B82"/>
                </a:solidFill>
              </a:rPr>
              <a:t>Plethysmography is the gold standard.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DADBBD-6F86-4321-BFF8-F80BA8F93B2B}"/>
              </a:ext>
            </a:extLst>
          </p:cNvPr>
          <p:cNvSpPr/>
          <p:nvPr/>
        </p:nvSpPr>
        <p:spPr>
          <a:xfrm>
            <a:off x="6172200" y="2540000"/>
            <a:ext cx="2476500" cy="304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0DCE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21A533A-5CE9-47C6-B810-6B0783209768}"/>
              </a:ext>
            </a:extLst>
          </p:cNvPr>
          <p:cNvSpPr/>
          <p:nvPr/>
        </p:nvSpPr>
        <p:spPr>
          <a:xfrm>
            <a:off x="6375400" y="2743200"/>
            <a:ext cx="457200" cy="457200"/>
          </a:xfrm>
          <a:prstGeom prst="ellipse">
            <a:avLst/>
          </a:prstGeom>
          <a:solidFill>
            <a:srgbClr val="1F6B8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309B77-806D-4B4B-A353-FD40141D55EA}"/>
              </a:ext>
            </a:extLst>
          </p:cNvPr>
          <p:cNvSpPr txBox="1"/>
          <p:nvPr/>
        </p:nvSpPr>
        <p:spPr>
          <a:xfrm>
            <a:off x="6375400" y="3352800"/>
            <a:ext cx="20701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0E2A3A"/>
                </a:solidFill>
              </a:rPr>
              <a:t>DLCO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0F652A-B131-40F4-8B1C-3C10B1AEFFE7}"/>
              </a:ext>
            </a:extLst>
          </p:cNvPr>
          <p:cNvSpPr txBox="1"/>
          <p:nvPr/>
        </p:nvSpPr>
        <p:spPr>
          <a:xfrm>
            <a:off x="6375400" y="3759200"/>
            <a:ext cx="2070100" cy="122084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2A3A"/>
                </a:solidFill>
              </a:rPr>
              <a:t>If low with normal volumes, early ILD possible.</a:t>
            </a:r>
          </a:p>
          <a:p>
            <a:pPr algn="l">
              <a:buNone/>
            </a:pPr>
            <a:r>
              <a:rPr lang="en-US" sz="1400" i="1" dirty="0">
                <a:solidFill>
                  <a:srgbClr val="1F6B82"/>
                </a:solidFill>
              </a:rPr>
              <a:t>Most sensitive early marker.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CA77BA3-B1EF-4719-8740-AE575077D808}"/>
              </a:ext>
            </a:extLst>
          </p:cNvPr>
          <p:cNvSpPr/>
          <p:nvPr/>
        </p:nvSpPr>
        <p:spPr>
          <a:xfrm>
            <a:off x="8801100" y="2540000"/>
            <a:ext cx="2476500" cy="304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0DCE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3AAFA2C-BAF5-48DB-849A-66454B40A331}"/>
              </a:ext>
            </a:extLst>
          </p:cNvPr>
          <p:cNvSpPr/>
          <p:nvPr/>
        </p:nvSpPr>
        <p:spPr>
          <a:xfrm>
            <a:off x="9004300" y="2743200"/>
            <a:ext cx="457200" cy="457200"/>
          </a:xfrm>
          <a:prstGeom prst="ellipse">
            <a:avLst/>
          </a:prstGeom>
          <a:solidFill>
            <a:srgbClr val="1F6B8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E405F9E-6538-4000-B417-C50CA167BE07}"/>
              </a:ext>
            </a:extLst>
          </p:cNvPr>
          <p:cNvSpPr txBox="1"/>
          <p:nvPr/>
        </p:nvSpPr>
        <p:spPr>
          <a:xfrm>
            <a:off x="9004300" y="3352800"/>
            <a:ext cx="20701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0E2A3A"/>
                </a:solidFill>
              </a:rPr>
              <a:t>Compare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BC9BB3-C23F-4DAD-A1F3-A8EF86C69BEA}"/>
              </a:ext>
            </a:extLst>
          </p:cNvPr>
          <p:cNvSpPr txBox="1"/>
          <p:nvPr/>
        </p:nvSpPr>
        <p:spPr>
          <a:xfrm>
            <a:off x="9004300" y="3759200"/>
            <a:ext cx="2070100" cy="100540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2A3A"/>
                </a:solidFill>
              </a:rPr>
              <a:t>Compare to last test — is it worse?</a:t>
            </a:r>
          </a:p>
          <a:p>
            <a:pPr algn="l">
              <a:buNone/>
            </a:pPr>
            <a:r>
              <a:rPr lang="en-US" sz="1400" i="1" dirty="0">
                <a:solidFill>
                  <a:srgbClr val="1F6B82"/>
                </a:solidFill>
              </a:rPr>
              <a:t>Always compare to prior values.</a:t>
            </a:r>
          </a:p>
        </p:txBody>
      </p:sp>
    </p:spTree>
    <p:extLst>
      <p:ext uri="{BB962C8B-B14F-4D97-AF65-F5344CB8AC3E}">
        <p14:creationId xmlns:p14="http://schemas.microsoft.com/office/powerpoint/2010/main" val="4287003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4F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70099-3F98-4E88-B9F2-611B26853F9C}"/>
              </a:ext>
            </a:extLst>
          </p:cNvPr>
          <p:cNvSpPr txBox="1"/>
          <p:nvPr/>
        </p:nvSpPr>
        <p:spPr>
          <a:xfrm>
            <a:off x="914400" y="3556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E2A3A"/>
                </a:solidFill>
                <a:latin typeface="Calibri"/>
                <a:ea typeface="Calibri"/>
                <a:cs typeface="Calibri"/>
              </a:rPr>
              <a:t>PulmOne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7B7F6D-95A1-4A9E-BEC3-B85C6071A20C}"/>
              </a:ext>
            </a:extLst>
          </p:cNvPr>
          <p:cNvSpPr txBox="1"/>
          <p:nvPr/>
        </p:nvSpPr>
        <p:spPr>
          <a:xfrm>
            <a:off x="914400" y="64516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1F6B82"/>
                </a:solidFill>
                <a:latin typeface="Calibri"/>
                <a:ea typeface="Calibri"/>
                <a:cs typeface="Calibri"/>
              </a:rPr>
              <a:t>RHEUMATOLOGY CLINIC TRAINING  • 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CA43D5-6BC7-4197-8468-9E5A1F1CF4EC}"/>
              </a:ext>
            </a:extLst>
          </p:cNvPr>
          <p:cNvSpPr txBox="1"/>
          <p:nvPr/>
        </p:nvSpPr>
        <p:spPr>
          <a:xfrm>
            <a:off x="11176000" y="6451600"/>
            <a:ext cx="406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1F6B82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49F62A-831D-467E-BDB5-164B7E51C2D0}"/>
              </a:ext>
            </a:extLst>
          </p:cNvPr>
          <p:cNvSpPr txBox="1"/>
          <p:nvPr/>
        </p:nvSpPr>
        <p:spPr>
          <a:xfrm>
            <a:off x="914400" y="1016000"/>
            <a:ext cx="10363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0E2A3A"/>
                </a:solidFill>
              </a:rPr>
              <a:t>Quick PFT Interpretation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E04832-84F4-4095-BEA7-8FBA8BCB52B7}"/>
              </a:ext>
            </a:extLst>
          </p:cNvPr>
          <p:cNvSpPr/>
          <p:nvPr/>
        </p:nvSpPr>
        <p:spPr>
          <a:xfrm>
            <a:off x="914400" y="1676400"/>
            <a:ext cx="1016000" cy="38100"/>
          </a:xfrm>
          <a:prstGeom prst="rect">
            <a:avLst/>
          </a:prstGeom>
          <a:solidFill>
            <a:srgbClr val="1F6B8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8CA8CA-DD6A-42D3-8655-DA475EAA9B40}"/>
              </a:ext>
            </a:extLst>
          </p:cNvPr>
          <p:cNvSpPr txBox="1"/>
          <p:nvPr/>
        </p:nvSpPr>
        <p:spPr>
          <a:xfrm>
            <a:off x="914400" y="1828800"/>
            <a:ext cx="103632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600" i="1" dirty="0">
                <a:solidFill>
                  <a:srgbClr val="1F6B82"/>
                </a:solidFill>
              </a:rPr>
              <a:t>Pattern recognition by parameter — what each finding tells you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F7B3BE9-9C77-4F78-A2CF-A4CCB6290C70}"/>
              </a:ext>
            </a:extLst>
          </p:cNvPr>
          <p:cNvSpPr/>
          <p:nvPr/>
        </p:nvSpPr>
        <p:spPr>
          <a:xfrm>
            <a:off x="914400" y="2540000"/>
            <a:ext cx="1778000" cy="1168400"/>
          </a:xfrm>
          <a:prstGeom prst="roundRect">
            <a:avLst/>
          </a:prstGeom>
          <a:solidFill>
            <a:srgbClr val="0E2A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Low FVC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1D90F706-AD43-4AC9-92B2-6E3D475F57E3}"/>
              </a:ext>
            </a:extLst>
          </p:cNvPr>
          <p:cNvSpPr/>
          <p:nvPr/>
        </p:nvSpPr>
        <p:spPr>
          <a:xfrm>
            <a:off x="2844800" y="2971800"/>
            <a:ext cx="355600" cy="304800"/>
          </a:xfrm>
          <a:prstGeom prst="rightArrow">
            <a:avLst/>
          </a:prstGeom>
          <a:solidFill>
            <a:srgbClr val="1F6B8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6B12B3F-6EAC-4345-9DBE-23F84AF2B83E}"/>
              </a:ext>
            </a:extLst>
          </p:cNvPr>
          <p:cNvSpPr/>
          <p:nvPr/>
        </p:nvSpPr>
        <p:spPr>
          <a:xfrm>
            <a:off x="3352800" y="2540000"/>
            <a:ext cx="7924800" cy="1168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0DCE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FC40CD-BF37-4B89-B414-628C093F9474}"/>
              </a:ext>
            </a:extLst>
          </p:cNvPr>
          <p:cNvSpPr txBox="1"/>
          <p:nvPr/>
        </p:nvSpPr>
        <p:spPr>
          <a:xfrm>
            <a:off x="3556000" y="2692400"/>
            <a:ext cx="762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0E2A3A"/>
                </a:solidFill>
              </a:rPr>
              <a:t>Think restriction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30D8DF-522E-4D33-A6E0-B9EC84A16F5E}"/>
              </a:ext>
            </a:extLst>
          </p:cNvPr>
          <p:cNvSpPr txBox="1"/>
          <p:nvPr/>
        </p:nvSpPr>
        <p:spPr>
          <a:xfrm>
            <a:off x="3556000" y="3073400"/>
            <a:ext cx="7620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300" dirty="0">
                <a:solidFill>
                  <a:srgbClr val="0E2A3A"/>
                </a:solidFill>
              </a:rPr>
              <a:t>First marker of restrictive lung disease — confirm with TLC.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2819AED-634F-4750-96EE-A2743F046AAB}"/>
              </a:ext>
            </a:extLst>
          </p:cNvPr>
          <p:cNvSpPr/>
          <p:nvPr/>
        </p:nvSpPr>
        <p:spPr>
          <a:xfrm>
            <a:off x="914400" y="3860800"/>
            <a:ext cx="1778000" cy="1168400"/>
          </a:xfrm>
          <a:prstGeom prst="roundRect">
            <a:avLst/>
          </a:prstGeom>
          <a:solidFill>
            <a:srgbClr val="0E2A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Low TLC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7AF1E2F8-DBA5-4E81-99AE-E3215154DC55}"/>
              </a:ext>
            </a:extLst>
          </p:cNvPr>
          <p:cNvSpPr/>
          <p:nvPr/>
        </p:nvSpPr>
        <p:spPr>
          <a:xfrm>
            <a:off x="2844800" y="4292600"/>
            <a:ext cx="355600" cy="304800"/>
          </a:xfrm>
          <a:prstGeom prst="rightArrow">
            <a:avLst/>
          </a:prstGeom>
          <a:solidFill>
            <a:srgbClr val="1F6B8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FC85720-6BAE-4175-ABE7-38A991ADCD7B}"/>
              </a:ext>
            </a:extLst>
          </p:cNvPr>
          <p:cNvSpPr/>
          <p:nvPr/>
        </p:nvSpPr>
        <p:spPr>
          <a:xfrm>
            <a:off x="3352800" y="3860800"/>
            <a:ext cx="7924800" cy="1168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0DCE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5A8BF9-2FE9-4938-9394-6767B40E364C}"/>
              </a:ext>
            </a:extLst>
          </p:cNvPr>
          <p:cNvSpPr txBox="1"/>
          <p:nvPr/>
        </p:nvSpPr>
        <p:spPr>
          <a:xfrm>
            <a:off x="3556000" y="4013200"/>
            <a:ext cx="762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0E2A3A"/>
                </a:solidFill>
              </a:rPr>
              <a:t>Confirms restriction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E2D4AF-5A71-4263-98F5-D8D9216E8DD2}"/>
              </a:ext>
            </a:extLst>
          </p:cNvPr>
          <p:cNvSpPr txBox="1"/>
          <p:nvPr/>
        </p:nvSpPr>
        <p:spPr>
          <a:xfrm>
            <a:off x="3556000" y="4394200"/>
            <a:ext cx="7620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300" dirty="0">
                <a:solidFill>
                  <a:srgbClr val="0E2A3A"/>
                </a:solidFill>
              </a:rPr>
              <a:t>Plethysmography is the gold standard for diagnosis.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F3313E6-8ADC-4332-84BE-9EE9AF09069C}"/>
              </a:ext>
            </a:extLst>
          </p:cNvPr>
          <p:cNvSpPr/>
          <p:nvPr/>
        </p:nvSpPr>
        <p:spPr>
          <a:xfrm>
            <a:off x="914400" y="5181600"/>
            <a:ext cx="1778000" cy="1168400"/>
          </a:xfrm>
          <a:prstGeom prst="roundRect">
            <a:avLst/>
          </a:prstGeom>
          <a:solidFill>
            <a:srgbClr val="0E2A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Low DLCO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7B01F21D-83BB-4711-9C7D-6092BEC072B2}"/>
              </a:ext>
            </a:extLst>
          </p:cNvPr>
          <p:cNvSpPr/>
          <p:nvPr/>
        </p:nvSpPr>
        <p:spPr>
          <a:xfrm>
            <a:off x="2844800" y="5613400"/>
            <a:ext cx="355600" cy="304800"/>
          </a:xfrm>
          <a:prstGeom prst="rightArrow">
            <a:avLst/>
          </a:prstGeom>
          <a:solidFill>
            <a:srgbClr val="1F6B8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481A6A8-B033-4F1B-872A-837630F0B718}"/>
              </a:ext>
            </a:extLst>
          </p:cNvPr>
          <p:cNvSpPr/>
          <p:nvPr/>
        </p:nvSpPr>
        <p:spPr>
          <a:xfrm>
            <a:off x="3352800" y="5181600"/>
            <a:ext cx="7924800" cy="1168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0DCE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EC409D-77E3-49E3-A7F3-383653B159A0}"/>
              </a:ext>
            </a:extLst>
          </p:cNvPr>
          <p:cNvSpPr txBox="1"/>
          <p:nvPr/>
        </p:nvSpPr>
        <p:spPr>
          <a:xfrm>
            <a:off x="3556000" y="5334000"/>
            <a:ext cx="762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0E2A3A"/>
                </a:solidFill>
              </a:rPr>
              <a:t>Early ILD possible — even with normal volumes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45B5FB-2E13-49CD-89A3-6109C4529164}"/>
              </a:ext>
            </a:extLst>
          </p:cNvPr>
          <p:cNvSpPr txBox="1"/>
          <p:nvPr/>
        </p:nvSpPr>
        <p:spPr>
          <a:xfrm>
            <a:off x="3556000" y="5715000"/>
            <a:ext cx="7620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300" dirty="0">
                <a:solidFill>
                  <a:srgbClr val="0E2A3A"/>
                </a:solidFill>
              </a:rPr>
              <a:t>Most sensitive marker; can be the earliest abnormality.</a:t>
            </a:r>
          </a:p>
        </p:txBody>
      </p:sp>
    </p:spTree>
    <p:extLst>
      <p:ext uri="{BB962C8B-B14F-4D97-AF65-F5344CB8AC3E}">
        <p14:creationId xmlns:p14="http://schemas.microsoft.com/office/powerpoint/2010/main" val="74447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4F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693033-027D-4522-8EE4-CC79C51C3D52}"/>
              </a:ext>
            </a:extLst>
          </p:cNvPr>
          <p:cNvSpPr txBox="1"/>
          <p:nvPr/>
        </p:nvSpPr>
        <p:spPr>
          <a:xfrm>
            <a:off x="914400" y="3556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E2A3A"/>
                </a:solidFill>
                <a:latin typeface="Calibri"/>
                <a:ea typeface="Calibri"/>
                <a:cs typeface="Calibri"/>
              </a:rPr>
              <a:t>PulmOne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CD6EF8-1CA4-44E4-B3CB-2A0ABDFE7901}"/>
              </a:ext>
            </a:extLst>
          </p:cNvPr>
          <p:cNvSpPr txBox="1"/>
          <p:nvPr/>
        </p:nvSpPr>
        <p:spPr>
          <a:xfrm>
            <a:off x="914400" y="64516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1F6B82"/>
                </a:solidFill>
                <a:latin typeface="Calibri"/>
                <a:ea typeface="Calibri"/>
                <a:cs typeface="Calibri"/>
              </a:rPr>
              <a:t>RHEUMATOLOGY CLINIC TRAINING  • 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E8FFD6-780F-4D81-8163-C8F3BE750614}"/>
              </a:ext>
            </a:extLst>
          </p:cNvPr>
          <p:cNvSpPr txBox="1"/>
          <p:nvPr/>
        </p:nvSpPr>
        <p:spPr>
          <a:xfrm>
            <a:off x="11176000" y="6451600"/>
            <a:ext cx="406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1F6B82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716094-6F01-439B-A5BE-651EDCEE9F3B}"/>
              </a:ext>
            </a:extLst>
          </p:cNvPr>
          <p:cNvSpPr txBox="1"/>
          <p:nvPr/>
        </p:nvSpPr>
        <p:spPr>
          <a:xfrm>
            <a:off x="914400" y="1016000"/>
            <a:ext cx="10363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0E2A3A"/>
                </a:solidFill>
              </a:rPr>
              <a:t>Clinic Workflow &amp; Key Messages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E10218-BC30-4F59-9AE3-AFCBDA41FDA1}"/>
              </a:ext>
            </a:extLst>
          </p:cNvPr>
          <p:cNvSpPr/>
          <p:nvPr/>
        </p:nvSpPr>
        <p:spPr>
          <a:xfrm>
            <a:off x="914400" y="1676400"/>
            <a:ext cx="1016000" cy="38100"/>
          </a:xfrm>
          <a:prstGeom prst="rect">
            <a:avLst/>
          </a:prstGeom>
          <a:solidFill>
            <a:srgbClr val="1F6B8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C429A2-F947-4806-A40F-069460A3F38B}"/>
              </a:ext>
            </a:extLst>
          </p:cNvPr>
          <p:cNvSpPr txBox="1"/>
          <p:nvPr/>
        </p:nvSpPr>
        <p:spPr>
          <a:xfrm>
            <a:off x="914400" y="1828800"/>
            <a:ext cx="103632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600" i="1" dirty="0">
                <a:solidFill>
                  <a:srgbClr val="1F6B82"/>
                </a:solidFill>
              </a:rPr>
              <a:t>Embed PFT review in routine rheumatology practice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135A9B-6670-4BFF-B073-4A01052B53A3}"/>
              </a:ext>
            </a:extLst>
          </p:cNvPr>
          <p:cNvSpPr txBox="1"/>
          <p:nvPr/>
        </p:nvSpPr>
        <p:spPr>
          <a:xfrm>
            <a:off x="914400" y="2387600"/>
            <a:ext cx="50292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0E2A3A"/>
                </a:solidFill>
              </a:rPr>
              <a:t>Simple Clinic Workflow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140269-3E60-4726-866C-B86D9155E659}"/>
              </a:ext>
            </a:extLst>
          </p:cNvPr>
          <p:cNvSpPr txBox="1"/>
          <p:nvPr/>
        </p:nvSpPr>
        <p:spPr>
          <a:xfrm>
            <a:off x="914400" y="2794000"/>
            <a:ext cx="5029200" cy="30008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6B82"/>
                </a:solidFill>
              </a:rPr>
              <a:t>At diagnosis</a:t>
            </a:r>
          </a:p>
          <a:p>
            <a:pPr marL="228600" indent="-228600" algn="l">
              <a:spcAft>
                <a:spcPts val="3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dirty="0">
                <a:solidFill>
                  <a:srgbClr val="0E2A3A"/>
                </a:solidFill>
              </a:rPr>
              <a:t>Order HRCT + complete PFT</a:t>
            </a:r>
          </a:p>
          <a:p>
            <a:pPr marL="228600" indent="-228600" algn="l">
              <a:spcAft>
                <a:spcPts val="3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dirty="0">
                <a:solidFill>
                  <a:srgbClr val="0E2A3A"/>
                </a:solidFill>
              </a:rPr>
              <a:t>Document baseline FVC and DLCO clearly in note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6B82"/>
                </a:solidFill>
              </a:rPr>
              <a:t>Every visit</a:t>
            </a:r>
          </a:p>
          <a:p>
            <a:pPr marL="228600" indent="-228600" algn="l">
              <a:spcAft>
                <a:spcPts val="3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dirty="0">
                <a:solidFill>
                  <a:srgbClr val="0E2A3A"/>
                </a:solidFill>
              </a:rPr>
              <a:t>Ask about cough, dyspnea, exercise tolerance</a:t>
            </a:r>
          </a:p>
          <a:p>
            <a:pPr marL="228600" indent="-228600" algn="l">
              <a:spcAft>
                <a:spcPts val="3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dirty="0">
                <a:solidFill>
                  <a:srgbClr val="0E2A3A"/>
                </a:solidFill>
              </a:rPr>
              <a:t>Check last PFT date</a:t>
            </a:r>
          </a:p>
          <a:p>
            <a:pPr marL="228600" indent="-228600" algn="l">
              <a:spcAft>
                <a:spcPts val="3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dirty="0">
                <a:solidFill>
                  <a:srgbClr val="0E2A3A"/>
                </a:solidFill>
              </a:rPr>
              <a:t>Decide if repeat needed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6B82"/>
                </a:solidFill>
              </a:rPr>
              <a:t>If PFT worsens</a:t>
            </a:r>
          </a:p>
          <a:p>
            <a:pPr marL="228600" indent="-228600" algn="l">
              <a:spcAft>
                <a:spcPts val="3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dirty="0">
                <a:solidFill>
                  <a:srgbClr val="0E2A3A"/>
                </a:solidFill>
              </a:rPr>
              <a:t>Repeat HRCT</a:t>
            </a:r>
          </a:p>
          <a:p>
            <a:pPr marL="228600" indent="-228600" algn="l">
              <a:spcAft>
                <a:spcPts val="3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dirty="0">
                <a:solidFill>
                  <a:srgbClr val="0E2A3A"/>
                </a:solidFill>
              </a:rPr>
              <a:t>Consider treatment escalation</a:t>
            </a:r>
          </a:p>
          <a:p>
            <a:pPr marL="228600" indent="-228600" algn="l">
              <a:spcAft>
                <a:spcPts val="3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dirty="0">
                <a:solidFill>
                  <a:srgbClr val="0E2A3A"/>
                </a:solidFill>
              </a:rPr>
              <a:t>Discuss in multidisciplinary setting if possible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76C530-4DC5-4E2D-9260-552DB7D0649F}"/>
              </a:ext>
            </a:extLst>
          </p:cNvPr>
          <p:cNvSpPr txBox="1"/>
          <p:nvPr/>
        </p:nvSpPr>
        <p:spPr>
          <a:xfrm>
            <a:off x="6248400" y="2387600"/>
            <a:ext cx="50292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0E2A3A"/>
                </a:solidFill>
              </a:rPr>
              <a:t>Key Message for Your Team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373AD0-6CC4-41F0-9949-E671A78FCE32}"/>
              </a:ext>
            </a:extLst>
          </p:cNvPr>
          <p:cNvSpPr txBox="1"/>
          <p:nvPr/>
        </p:nvSpPr>
        <p:spPr>
          <a:xfrm>
            <a:off x="6248400" y="2794000"/>
            <a:ext cx="5029200" cy="168251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85750" indent="-285750" algn="l">
              <a:spcAft>
                <a:spcPts val="400"/>
              </a:spcAft>
              <a:buClr>
                <a:srgbClr val="1F6B82"/>
              </a:buClr>
              <a:buFont typeface="Arial"/>
              <a:buAutoNum type="arabicPeriod"/>
            </a:pPr>
            <a:r>
              <a:rPr lang="en-US" sz="1500" b="1" dirty="0">
                <a:solidFill>
                  <a:srgbClr val="0E2A3A"/>
                </a:solidFill>
              </a:rPr>
              <a:t>ILD can be silent.</a:t>
            </a:r>
          </a:p>
          <a:p>
            <a:pPr marL="285750" indent="-285750" algn="l">
              <a:spcAft>
                <a:spcPts val="400"/>
              </a:spcAft>
              <a:buClr>
                <a:srgbClr val="1F6B82"/>
              </a:buClr>
              <a:buFont typeface="Arial"/>
              <a:buAutoNum type="arabicPeriod"/>
            </a:pPr>
            <a:r>
              <a:rPr lang="en-US" sz="1500" b="1" dirty="0">
                <a:solidFill>
                  <a:srgbClr val="0E2A3A"/>
                </a:solidFill>
              </a:rPr>
              <a:t>DLCO is critical.</a:t>
            </a:r>
          </a:p>
          <a:p>
            <a:pPr marL="285750" indent="-285750" algn="l">
              <a:spcAft>
                <a:spcPts val="400"/>
              </a:spcAft>
              <a:buClr>
                <a:srgbClr val="1F6B82"/>
              </a:buClr>
              <a:buFont typeface="Arial"/>
              <a:buAutoNum type="arabicPeriod"/>
            </a:pPr>
            <a:r>
              <a:rPr lang="en-US" sz="1500" b="1" dirty="0">
                <a:solidFill>
                  <a:srgbClr val="0E2A3A"/>
                </a:solidFill>
              </a:rPr>
              <a:t>Trends matter more than single numbers.</a:t>
            </a:r>
          </a:p>
          <a:p>
            <a:pPr marL="285750" indent="-285750" algn="l">
              <a:spcAft>
                <a:spcPts val="400"/>
              </a:spcAft>
              <a:buClr>
                <a:srgbClr val="1F6B82"/>
              </a:buClr>
              <a:buFont typeface="Arial"/>
              <a:buAutoNum type="arabicPeriod"/>
            </a:pPr>
            <a:r>
              <a:rPr lang="en-US" sz="1500" b="1" dirty="0">
                <a:solidFill>
                  <a:srgbClr val="0E2A3A"/>
                </a:solidFill>
              </a:rPr>
              <a:t>Early detection improves outcomes.</a:t>
            </a:r>
          </a:p>
          <a:p>
            <a:pPr marL="285750" indent="-285750" algn="l">
              <a:spcAft>
                <a:spcPts val="400"/>
              </a:spcAft>
              <a:buClr>
                <a:srgbClr val="1F6B82"/>
              </a:buClr>
              <a:buFont typeface="Arial"/>
              <a:buAutoNum type="arabicPeriod"/>
            </a:pPr>
            <a:r>
              <a:rPr lang="en-US" sz="1500" b="1" dirty="0">
                <a:solidFill>
                  <a:srgbClr val="0E2A3A"/>
                </a:solidFill>
              </a:rPr>
              <a:t>Rheumatology should lead screening — pulmonology co-manages confirmed ILD.</a:t>
            </a:r>
          </a:p>
        </p:txBody>
      </p:sp>
    </p:spTree>
    <p:extLst>
      <p:ext uri="{BB962C8B-B14F-4D97-AF65-F5344CB8AC3E}">
        <p14:creationId xmlns:p14="http://schemas.microsoft.com/office/powerpoint/2010/main" val="1316963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4F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77FB0D-020B-48EA-91C6-5AA03EB0F770}"/>
              </a:ext>
            </a:extLst>
          </p:cNvPr>
          <p:cNvSpPr txBox="1"/>
          <p:nvPr/>
        </p:nvSpPr>
        <p:spPr>
          <a:xfrm>
            <a:off x="914400" y="3556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E2A3A"/>
                </a:solidFill>
                <a:latin typeface="Calibri"/>
                <a:ea typeface="Calibri"/>
                <a:cs typeface="Calibri"/>
              </a:rPr>
              <a:t>PulmOne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879EAF-8356-48E7-864D-F1091A153029}"/>
              </a:ext>
            </a:extLst>
          </p:cNvPr>
          <p:cNvSpPr txBox="1"/>
          <p:nvPr/>
        </p:nvSpPr>
        <p:spPr>
          <a:xfrm>
            <a:off x="914400" y="64516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1F6B82"/>
                </a:solidFill>
                <a:latin typeface="Calibri"/>
                <a:ea typeface="Calibri"/>
                <a:cs typeface="Calibri"/>
              </a:rPr>
              <a:t>RHEUMATOLOGY CLINIC TRAINING  • 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C647FC-F741-42B5-B41E-4F87F9E5DC25}"/>
              </a:ext>
            </a:extLst>
          </p:cNvPr>
          <p:cNvSpPr txBox="1"/>
          <p:nvPr/>
        </p:nvSpPr>
        <p:spPr>
          <a:xfrm>
            <a:off x="11176000" y="6451600"/>
            <a:ext cx="406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1F6B82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A828E2-0DE5-4B6D-8CD9-042DE633DB65}"/>
              </a:ext>
            </a:extLst>
          </p:cNvPr>
          <p:cNvSpPr txBox="1"/>
          <p:nvPr/>
        </p:nvSpPr>
        <p:spPr>
          <a:xfrm>
            <a:off x="914400" y="1016000"/>
            <a:ext cx="10363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0E2A3A"/>
                </a:solidFill>
              </a:rPr>
              <a:t>PFT Ordering Frequency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2E7682-3F1B-4C80-BECF-4062D047690F}"/>
              </a:ext>
            </a:extLst>
          </p:cNvPr>
          <p:cNvSpPr/>
          <p:nvPr/>
        </p:nvSpPr>
        <p:spPr>
          <a:xfrm>
            <a:off x="914400" y="1676400"/>
            <a:ext cx="1016000" cy="38100"/>
          </a:xfrm>
          <a:prstGeom prst="rect">
            <a:avLst/>
          </a:prstGeom>
          <a:solidFill>
            <a:srgbClr val="1F6B8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0957CB-E9A3-4BBF-845C-1294CAF9AB6D}"/>
              </a:ext>
            </a:extLst>
          </p:cNvPr>
          <p:cNvSpPr txBox="1"/>
          <p:nvPr/>
        </p:nvSpPr>
        <p:spPr>
          <a:xfrm>
            <a:off x="914400" y="1828800"/>
            <a:ext cx="103632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600" i="1" dirty="0">
                <a:solidFill>
                  <a:srgbClr val="1F6B82"/>
                </a:solidFill>
              </a:rPr>
              <a:t>Practical guidance for rheumatology patients with ILD or at risk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04590E-EC28-425A-9973-07D291230582}"/>
              </a:ext>
            </a:extLst>
          </p:cNvPr>
          <p:cNvSpPr txBox="1"/>
          <p:nvPr/>
        </p:nvSpPr>
        <p:spPr>
          <a:xfrm>
            <a:off x="914400" y="2387600"/>
            <a:ext cx="103632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0E2A3A"/>
                </a:solidFill>
              </a:rPr>
              <a:t>If ILD is diagnosed or strongly suspected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5096343-33A0-4645-AD41-F8F6AC189826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2794000"/>
          <a:ext cx="10363200" cy="1725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00">
                  <a:extLst>
                    <a:ext uri="{9D8B030D-6E8A-4147-A177-3AD203B41FA5}">
                      <a16:colId xmlns:a16="http://schemas.microsoft.com/office/drawing/2014/main" val="95923349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1151199739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1971761121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Timeframe</a:t>
                      </a:r>
                    </a:p>
                  </a:txBody>
                  <a:tcPr anchor="ctr"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Frequency</a:t>
                      </a:r>
                    </a:p>
                  </a:txBody>
                  <a:tcPr anchor="ctr"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Rationale</a:t>
                      </a:r>
                    </a:p>
                  </a:txBody>
                  <a:tcPr anchor="ctr">
                    <a:solidFill>
                      <a:srgbClr val="0E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89216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First 1–2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Every 3–6 months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Highest risk period for progression; detect change early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12833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After year 2 (stable)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Every 6–12 months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Less frequent if trajectory is flat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37136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Treatment change or clinical worsening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Within 4–12 weeks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Assess response or progression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06686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A4C539AE-7E54-4666-9147-4B6A9FF4D6B1}"/>
              </a:ext>
            </a:extLst>
          </p:cNvPr>
          <p:cNvSpPr txBox="1"/>
          <p:nvPr/>
        </p:nvSpPr>
        <p:spPr>
          <a:xfrm>
            <a:off x="914400" y="4775200"/>
            <a:ext cx="103632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0E2A3A"/>
                </a:solidFill>
              </a:rPr>
              <a:t>If screening for ILD (no known lung disease)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CC7370-DB29-4D45-B329-29BB7726194E}"/>
              </a:ext>
            </a:extLst>
          </p:cNvPr>
          <p:cNvSpPr txBox="1"/>
          <p:nvPr/>
        </p:nvSpPr>
        <p:spPr>
          <a:xfrm>
            <a:off x="914400" y="5130800"/>
            <a:ext cx="10363200" cy="58734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 algn="l">
              <a:spcAft>
                <a:spcPts val="5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b="1" dirty="0">
                <a:solidFill>
                  <a:srgbClr val="0E2A3A"/>
                </a:solidFill>
              </a:rPr>
              <a:t>Systemic sclerosis: </a:t>
            </a:r>
            <a:r>
              <a:rPr lang="en-US" sz="1400" dirty="0">
                <a:solidFill>
                  <a:srgbClr val="0E2A3A"/>
                </a:solidFill>
              </a:rPr>
              <a:t>HRCT + complete PFTs at diagnosis, then per ILD protocol if confirmed</a:t>
            </a:r>
          </a:p>
          <a:p>
            <a:pPr marL="228600" indent="-228600" algn="l">
              <a:spcAft>
                <a:spcPts val="500"/>
              </a:spcAft>
              <a:buClr>
                <a:srgbClr val="1F6B82"/>
              </a:buClr>
              <a:buFont typeface="Arial"/>
              <a:buChar char="●"/>
            </a:pPr>
            <a:r>
              <a:rPr lang="en-US" sz="1400" b="1" dirty="0">
                <a:solidFill>
                  <a:srgbClr val="0E2A3A"/>
                </a:solidFill>
              </a:rPr>
              <a:t>Other CTDs: </a:t>
            </a:r>
            <a:r>
              <a:rPr lang="en-US" sz="1400" dirty="0">
                <a:solidFill>
                  <a:srgbClr val="0E2A3A"/>
                </a:solidFill>
              </a:rPr>
              <a:t>PFTs every 6–12 months if symptomatic or risk factors present</a:t>
            </a:r>
          </a:p>
        </p:txBody>
      </p:sp>
    </p:spTree>
    <p:extLst>
      <p:ext uri="{BB962C8B-B14F-4D97-AF65-F5344CB8AC3E}">
        <p14:creationId xmlns:p14="http://schemas.microsoft.com/office/powerpoint/2010/main" val="1472381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4F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ACD082-D2DC-4233-85F6-CFDE5DE58A72}"/>
              </a:ext>
            </a:extLst>
          </p:cNvPr>
          <p:cNvSpPr txBox="1"/>
          <p:nvPr/>
        </p:nvSpPr>
        <p:spPr>
          <a:xfrm>
            <a:off x="914400" y="3556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E2A3A"/>
                </a:solidFill>
                <a:latin typeface="Calibri"/>
                <a:ea typeface="Calibri"/>
                <a:cs typeface="Calibri"/>
              </a:rPr>
              <a:t>PulmOne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4E8AA0-338C-4A33-B1D6-0B7531E21537}"/>
              </a:ext>
            </a:extLst>
          </p:cNvPr>
          <p:cNvSpPr txBox="1"/>
          <p:nvPr/>
        </p:nvSpPr>
        <p:spPr>
          <a:xfrm>
            <a:off x="914400" y="64516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1F6B82"/>
                </a:solidFill>
                <a:latin typeface="Calibri"/>
                <a:ea typeface="Calibri"/>
                <a:cs typeface="Calibri"/>
              </a:rPr>
              <a:t>RHEUMATOLOGY CLINIC TRAINING  • 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395082-22F7-4D51-88B2-A72FDB4D9920}"/>
              </a:ext>
            </a:extLst>
          </p:cNvPr>
          <p:cNvSpPr txBox="1"/>
          <p:nvPr/>
        </p:nvSpPr>
        <p:spPr>
          <a:xfrm>
            <a:off x="11176000" y="6451600"/>
            <a:ext cx="406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1F6B82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124B73-66DB-40FC-8612-FE46E99CA799}"/>
              </a:ext>
            </a:extLst>
          </p:cNvPr>
          <p:cNvSpPr txBox="1"/>
          <p:nvPr/>
        </p:nvSpPr>
        <p:spPr>
          <a:xfrm>
            <a:off x="914400" y="762000"/>
            <a:ext cx="10363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0E2A3A"/>
                </a:solidFill>
              </a:rPr>
              <a:t>Treatment Approach by ILD Severity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2D989A-14E8-4FBB-A3C8-C0FED50050CE}"/>
              </a:ext>
            </a:extLst>
          </p:cNvPr>
          <p:cNvSpPr/>
          <p:nvPr/>
        </p:nvSpPr>
        <p:spPr>
          <a:xfrm>
            <a:off x="914400" y="1371600"/>
            <a:ext cx="1016000" cy="38100"/>
          </a:xfrm>
          <a:prstGeom prst="rect">
            <a:avLst/>
          </a:prstGeom>
          <a:solidFill>
            <a:srgbClr val="1F6B8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12C16A-5AE9-49A8-890C-C6762BE67799}"/>
              </a:ext>
            </a:extLst>
          </p:cNvPr>
          <p:cNvSpPr txBox="1"/>
          <p:nvPr/>
        </p:nvSpPr>
        <p:spPr>
          <a:xfrm>
            <a:off x="914400" y="1524000"/>
            <a:ext cx="10363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400" i="1" dirty="0">
                <a:solidFill>
                  <a:srgbClr val="1F6B82"/>
                </a:solidFill>
              </a:rPr>
              <a:t>Restrictive pattern: low FEV₁ + low FVC + low TLC + normal FEV₁/FVC ratio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65269C-F3DD-49B7-B245-46E31AAC80A1}"/>
              </a:ext>
            </a:extLst>
          </p:cNvPr>
          <p:cNvSpPr txBox="1"/>
          <p:nvPr/>
        </p:nvSpPr>
        <p:spPr>
          <a:xfrm>
            <a:off x="914400" y="1981200"/>
            <a:ext cx="103632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0E2A3A"/>
                </a:solidFill>
              </a:rPr>
              <a:t>Step 1 · Confirm ILD and assess severity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E0C35BA-353B-404A-B5D2-9DF03143EFCB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2336800"/>
          <a:ext cx="10363200" cy="139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00">
                  <a:extLst>
                    <a:ext uri="{9D8B030D-6E8A-4147-A177-3AD203B41FA5}">
                      <a16:colId xmlns:a16="http://schemas.microsoft.com/office/drawing/2014/main" val="3683575694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4163035528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4576381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Severity</a:t>
                      </a:r>
                    </a:p>
                  </a:txBody>
                  <a:tcPr anchor="ctr"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PFT criteria</a:t>
                      </a:r>
                    </a:p>
                  </a:txBody>
                  <a:tcPr anchor="ctr"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Clinical features</a:t>
                      </a:r>
                    </a:p>
                  </a:txBody>
                  <a:tcPr anchor="ctr">
                    <a:solidFill>
                      <a:srgbClr val="0E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22647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Mild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FVC &gt;80% predicted, minimal symptoms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Often asymptomatic or mild dyspnea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151778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Moderate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FVC 60–80% predicted or DLCO 40–70%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Symptomatic with exertion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61568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Severe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FVC &lt;60% predicted or DLCO &lt;40%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Significant dyspnea, hypoxemia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94989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E05974B-458C-4BA9-8A7A-CC89EDD2E465}"/>
              </a:ext>
            </a:extLst>
          </p:cNvPr>
          <p:cNvSpPr txBox="1"/>
          <p:nvPr/>
        </p:nvSpPr>
        <p:spPr>
          <a:xfrm>
            <a:off x="914400" y="3962400"/>
            <a:ext cx="103632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0E2A3A"/>
                </a:solidFill>
              </a:rPr>
              <a:t>Step 2 · Determine inflammatory vs. fibrotic predominance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703F097-B5BA-4B25-BD98-926C8CE50414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4318000"/>
          <a:ext cx="10363200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00">
                  <a:extLst>
                    <a:ext uri="{9D8B030D-6E8A-4147-A177-3AD203B41FA5}">
                      <a16:colId xmlns:a16="http://schemas.microsoft.com/office/drawing/2014/main" val="1313923761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1429483030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309258571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Pattern</a:t>
                      </a:r>
                    </a:p>
                  </a:txBody>
                  <a:tcPr anchor="ctr"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HRCT findings</a:t>
                      </a:r>
                    </a:p>
                  </a:txBody>
                  <a:tcPr anchor="ctr"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Treatment approach</a:t>
                      </a:r>
                    </a:p>
                  </a:txBody>
                  <a:tcPr anchor="ctr">
                    <a:solidFill>
                      <a:srgbClr val="0E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50455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Inflammatory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Ground-glass, reticular opacities without traction bronchiectasis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Immunosuppression first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96645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Fibrotic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Reticulation, traction bronchiectasis, architectural distortion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Antifibrotic ± immunosuppression</a:t>
                      </a:r>
                    </a:p>
                  </a:txBody>
                  <a:tcPr anchor="ctr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264803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1013CE-0A26-4FA9-9F63-49EC87E1ADD6}"/>
              </a:ext>
            </a:extLst>
          </p:cNvPr>
          <p:cNvSpPr txBox="1"/>
          <p:nvPr/>
        </p:nvSpPr>
        <p:spPr>
          <a:xfrm>
            <a:off x="914400" y="5740400"/>
            <a:ext cx="103632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200" i="1" dirty="0">
                <a:solidFill>
                  <a:srgbClr val="1F6B82"/>
                </a:solidFill>
              </a:rPr>
              <a:t>TLC is the critical differentiator — distinguishes true restriction from other patterns. DLCO is often low even when volumes are preserved.</a:t>
            </a:r>
          </a:p>
        </p:txBody>
      </p:sp>
    </p:spTree>
    <p:extLst>
      <p:ext uri="{BB962C8B-B14F-4D97-AF65-F5344CB8AC3E}">
        <p14:creationId xmlns:p14="http://schemas.microsoft.com/office/powerpoint/2010/main" val="1458286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4F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BE8E9D-464E-4F57-8304-2550B0889A22}"/>
              </a:ext>
            </a:extLst>
          </p:cNvPr>
          <p:cNvSpPr txBox="1"/>
          <p:nvPr/>
        </p:nvSpPr>
        <p:spPr>
          <a:xfrm>
            <a:off x="914400" y="3556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E2A3A"/>
                </a:solidFill>
                <a:latin typeface="Calibri"/>
                <a:ea typeface="Calibri"/>
                <a:cs typeface="Calibri"/>
              </a:rPr>
              <a:t>PulmOne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2F2D72-E9F6-4A76-A5C5-EF9D24A4CEEA}"/>
              </a:ext>
            </a:extLst>
          </p:cNvPr>
          <p:cNvSpPr txBox="1"/>
          <p:nvPr/>
        </p:nvSpPr>
        <p:spPr>
          <a:xfrm>
            <a:off x="914400" y="64516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1F6B82"/>
                </a:solidFill>
                <a:latin typeface="Calibri"/>
                <a:ea typeface="Calibri"/>
                <a:cs typeface="Calibri"/>
              </a:rPr>
              <a:t>RHEUMATOLOGY CLINIC TRAINING  • 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2F75D5-11C9-4264-896B-4042CAAC3E45}"/>
              </a:ext>
            </a:extLst>
          </p:cNvPr>
          <p:cNvSpPr txBox="1"/>
          <p:nvPr/>
        </p:nvSpPr>
        <p:spPr>
          <a:xfrm>
            <a:off x="11176000" y="6451600"/>
            <a:ext cx="406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1F6B82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75F8E6-B3AB-416B-BA3E-D3AA360E26F2}"/>
              </a:ext>
            </a:extLst>
          </p:cNvPr>
          <p:cNvSpPr txBox="1"/>
          <p:nvPr/>
        </p:nvSpPr>
        <p:spPr>
          <a:xfrm>
            <a:off x="914400" y="635000"/>
            <a:ext cx="10363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0E2A3A"/>
                </a:solidFill>
              </a:rPr>
              <a:t>Specific Treatment Recommendations by CTD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6C41F9-86ED-432C-BBC6-6712B4806634}"/>
              </a:ext>
            </a:extLst>
          </p:cNvPr>
          <p:cNvSpPr/>
          <p:nvPr/>
        </p:nvSpPr>
        <p:spPr>
          <a:xfrm>
            <a:off x="914400" y="1168400"/>
            <a:ext cx="1016000" cy="38100"/>
          </a:xfrm>
          <a:prstGeom prst="rect">
            <a:avLst/>
          </a:prstGeom>
          <a:solidFill>
            <a:srgbClr val="1F6B8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E9EC4B-221A-40B8-B783-084B91AA5435}"/>
              </a:ext>
            </a:extLst>
          </p:cNvPr>
          <p:cNvSpPr txBox="1"/>
          <p:nvPr/>
        </p:nvSpPr>
        <p:spPr>
          <a:xfrm>
            <a:off x="914400" y="1346200"/>
            <a:ext cx="103632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0E2A3A"/>
                </a:solidFill>
              </a:rPr>
              <a:t>Systemic sclerosis–ILD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8FBFFCE-E32D-42C7-A778-7EDA6D6CC3F4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1701800"/>
          <a:ext cx="10363200" cy="888999"/>
        </p:xfrm>
        <a:graphic>
          <a:graphicData uri="http://schemas.openxmlformats.org/drawingml/2006/table">
            <a:tbl>
              <a:tblPr/>
              <a:tblGrid>
                <a:gridCol w="3454400">
                  <a:extLst>
                    <a:ext uri="{9D8B030D-6E8A-4147-A177-3AD203B41FA5}">
                      <a16:colId xmlns:a16="http://schemas.microsoft.com/office/drawing/2014/main" val="3549587488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950182582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1365240689"/>
                    </a:ext>
                  </a:extLst>
                </a:gridCol>
              </a:tblGrid>
              <a:tr h="296333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Scenario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First-line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Alternative / escalation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E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548439"/>
                  </a:ext>
                </a:extLst>
              </a:tr>
              <a:tr h="296333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Inflammatory, early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Mycophenolate mofetil (MMF) 1.5–3 g/day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Cyclophosphamide if rapid progression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052068"/>
                  </a:ext>
                </a:extLst>
              </a:tr>
              <a:tr h="296333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Progressive fibrotic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Nintedanib 150 mg BID (FDA approved for SSc-ILD)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Tocilizumab or rituximab for refractory disease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002913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1EFEDA85-20D8-4020-8832-5DE79B10EA7D}"/>
              </a:ext>
            </a:extLst>
          </p:cNvPr>
          <p:cNvSpPr txBox="1"/>
          <p:nvPr/>
        </p:nvSpPr>
        <p:spPr>
          <a:xfrm>
            <a:off x="914400" y="2819400"/>
            <a:ext cx="103632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0E2A3A"/>
                </a:solidFill>
              </a:rPr>
              <a:t>Idiopathic inflammatory myopathy–ILD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4B39F9E-D50E-40F6-8509-7EA96EBCB824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3175000"/>
          <a:ext cx="10363200" cy="970280"/>
        </p:xfrm>
        <a:graphic>
          <a:graphicData uri="http://schemas.openxmlformats.org/drawingml/2006/table">
            <a:tbl>
              <a:tblPr/>
              <a:tblGrid>
                <a:gridCol w="3454400">
                  <a:extLst>
                    <a:ext uri="{9D8B030D-6E8A-4147-A177-3AD203B41FA5}">
                      <a16:colId xmlns:a16="http://schemas.microsoft.com/office/drawing/2014/main" val="1648075990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1152388151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1317468531"/>
                    </a:ext>
                  </a:extLst>
                </a:gridCol>
              </a:tblGrid>
              <a:tr h="296333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Scenario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First-line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Notes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E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08383"/>
                  </a:ext>
                </a:extLst>
              </a:tr>
              <a:tr h="296333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Anti-synthetase syndrome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Prednisone + MMF or azathioprine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Rituximab if refractory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803371"/>
                  </a:ext>
                </a:extLst>
              </a:tr>
              <a:tr h="296333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Anti-MDA5 positive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Aggressive triple therapy (steroids + tacrolimus + cyclophosphamide)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High mortality; early escalation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056681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A049E4B-116A-4996-8352-7921AD7067C9}"/>
              </a:ext>
            </a:extLst>
          </p:cNvPr>
          <p:cNvSpPr txBox="1"/>
          <p:nvPr/>
        </p:nvSpPr>
        <p:spPr>
          <a:xfrm>
            <a:off x="914400" y="4292600"/>
            <a:ext cx="103632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0E2A3A"/>
                </a:solidFill>
              </a:rPr>
              <a:t>Rheumatoid arthritis–ILD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516D811F-986C-4595-9674-03544E6F3397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4648200"/>
          <a:ext cx="10363200" cy="970280"/>
        </p:xfrm>
        <a:graphic>
          <a:graphicData uri="http://schemas.openxmlformats.org/drawingml/2006/table">
            <a:tbl>
              <a:tblPr/>
              <a:tblGrid>
                <a:gridCol w="3454400">
                  <a:extLst>
                    <a:ext uri="{9D8B030D-6E8A-4147-A177-3AD203B41FA5}">
                      <a16:colId xmlns:a16="http://schemas.microsoft.com/office/drawing/2014/main" val="3723848501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3508268798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626721250"/>
                    </a:ext>
                  </a:extLst>
                </a:gridCol>
              </a:tblGrid>
              <a:tr h="296333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Scenario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First-line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Notes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E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87050"/>
                  </a:ext>
                </a:extLst>
              </a:tr>
              <a:tr h="296333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Inflammatory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Prednisone + MMF or rituximab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Avoid methotrexate in established ILD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766615"/>
                  </a:ext>
                </a:extLst>
              </a:tr>
              <a:tr h="296333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Progressive fibrotic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Nintedanib or pirfenidone ± background immunosuppression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E2A3A"/>
                          </a:solidFill>
                          <a:latin typeface="Calibri"/>
                          <a:ea typeface="Calibri"/>
                          <a:cs typeface="Calibri"/>
                        </a:rPr>
                        <a:t>Refer to specialist for advanced cases</a:t>
                      </a:r>
                    </a:p>
                  </a:txBody>
                  <a:tcPr marT="21167" marB="2116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689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755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2A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97000"/>
            <a:ext cx="6666312" cy="2757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4400" b="1" dirty="0">
                <a:solidFill>
                  <a:srgbClr val="FFFFFF"/>
                </a:solidFill>
              </a:rPr>
              <a:t>Key Clinical Messages</a:t>
            </a:r>
          </a:p>
          <a:p>
            <a:pPr marL="285750" indent="-285750" algn="l">
              <a:spcBef>
                <a:spcPts val="900"/>
              </a:spcBef>
              <a:spcAft>
                <a:spcPts val="500"/>
              </a:spcAft>
              <a:buFont typeface="Arial"/>
              <a:buChar char="•"/>
            </a:pPr>
            <a:r>
              <a:rPr lang="en-US" sz="2000" dirty="0">
                <a:solidFill>
                  <a:srgbClr val="E2E8F0"/>
                </a:solidFill>
              </a:rPr>
              <a:t>DLCO is critical for early ILD detection</a:t>
            </a:r>
          </a:p>
          <a:p>
            <a:pPr marL="285750" indent="-285750" algn="l">
              <a:spcAft>
                <a:spcPts val="500"/>
              </a:spcAft>
              <a:buFont typeface="Arial"/>
              <a:buChar char="•"/>
            </a:pPr>
            <a:r>
              <a:rPr lang="en-US" sz="2000" dirty="0">
                <a:solidFill>
                  <a:srgbClr val="E2E8F0"/>
                </a:solidFill>
              </a:rPr>
              <a:t>Never rely on spirometry alone</a:t>
            </a:r>
          </a:p>
          <a:p>
            <a:pPr marL="285750" indent="-285750" algn="l">
              <a:spcAft>
                <a:spcPts val="500"/>
              </a:spcAft>
              <a:buFont typeface="Arial"/>
              <a:buChar char="•"/>
            </a:pPr>
            <a:r>
              <a:rPr lang="en-US" sz="2000" dirty="0">
                <a:solidFill>
                  <a:srgbClr val="E2E8F0"/>
                </a:solidFill>
              </a:rPr>
              <a:t>Compare all PFTs with previous values</a:t>
            </a:r>
          </a:p>
          <a:p>
            <a:pPr marL="285750" indent="-285750" algn="l">
              <a:spcAft>
                <a:spcPts val="500"/>
              </a:spcAft>
              <a:buFont typeface="Arial"/>
              <a:buChar char="•"/>
            </a:pPr>
            <a:r>
              <a:rPr lang="en-US" sz="2000" dirty="0">
                <a:solidFill>
                  <a:srgbClr val="E2E8F0"/>
                </a:solidFill>
              </a:rPr>
              <a:t>HRCT + Complete PFTs remain the primary monitoring tools</a:t>
            </a:r>
          </a:p>
          <a:p>
            <a:pPr marL="285750" indent="-285750" algn="l">
              <a:buFont typeface="Arial"/>
              <a:buChar char="•"/>
            </a:pPr>
            <a:r>
              <a:rPr lang="en-US" sz="2000" dirty="0">
                <a:solidFill>
                  <a:srgbClr val="E2E8F0"/>
                </a:solidFill>
              </a:rPr>
              <a:t>Early identification improves patient outcomes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1A3D1F-54E3-4914-9BA6-BA6C3BD83178}"/>
              </a:ext>
            </a:extLst>
          </p:cNvPr>
          <p:cNvSpPr txBox="1"/>
          <p:nvPr/>
        </p:nvSpPr>
        <p:spPr>
          <a:xfrm>
            <a:off x="914400" y="6096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PulmOne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3E34EC-E3E8-4608-A871-A7ADED4D8D73}"/>
              </a:ext>
            </a:extLst>
          </p:cNvPr>
          <p:cNvSpPr txBox="1"/>
          <p:nvPr/>
        </p:nvSpPr>
        <p:spPr>
          <a:xfrm>
            <a:off x="914400" y="64516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A8C5D6"/>
                </a:solidFill>
                <a:latin typeface="Calibri"/>
                <a:ea typeface="Calibri"/>
                <a:cs typeface="Calibri"/>
              </a:rPr>
              <a:t>RHEUMATOLOGY CLINIC TRAINING  • 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FA7C68-0550-4F5D-8842-FCD53A4969F7}"/>
              </a:ext>
            </a:extLst>
          </p:cNvPr>
          <p:cNvSpPr txBox="1"/>
          <p:nvPr/>
        </p:nvSpPr>
        <p:spPr>
          <a:xfrm>
            <a:off x="11176000" y="6451600"/>
            <a:ext cx="406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A8C5D6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516658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4F8E94D-9A64-4713-9A07-20B6A0F0590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9ca0f042-3768-487d-b24c-252d895bb58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1374</Words>
  <Application>Microsoft Office PowerPoint</Application>
  <PresentationFormat>Custom</PresentationFormat>
  <Paragraphs>263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Arun Johny</dc:creator>
  <cp:keywords/>
  <dc:description>generated using python-pptx</dc:description>
  <cp:lastModifiedBy>Paul Birkeli</cp:lastModifiedBy>
  <cp:revision>4</cp:revision>
  <dcterms:created xsi:type="dcterms:W3CDTF">2013-01-27T09:14:16Z</dcterms:created>
  <dcterms:modified xsi:type="dcterms:W3CDTF">2026-05-29T02:40:41Z</dcterms:modified>
  <cp:category/>
</cp:coreProperties>
</file>