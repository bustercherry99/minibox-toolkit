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to PulmOne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List</c:v>
                  </c:pt>
                  <c:pt idx="1">
                    <c:v>12 mo</c:v>
                  </c:pt>
                  <c:pt idx="2">
                    <c:v>24 mo</c:v>
                  </c:pt>
                  <c:pt idx="3">
                    <c:v>36 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39000</c:v>
                </c:pt>
                <c:pt idx="1">
                  <c:v>37916</c:v>
                </c:pt>
                <c:pt idx="2">
                  <c:v>37341</c:v>
                </c:pt>
                <c:pt idx="3">
                  <c:v>37148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500"/>
          <c:min val="36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1331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291840" cy="3291840"/>
          </a:xfrm>
          <a:prstGeom prst="ellipse">
            <a:avLst/>
          </a:prstGeom>
          <a:solidFill>
            <a:srgbClr val="1331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FINANCING  ·  PARTNER PROGRAM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NewLane Finance Program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doctors pay monthly — while PulmOne collects the full sale in cash, up front.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13315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297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Carlos — NewLane Finance  ·  Example based on a $39,000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526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· 12 / 24 / 36 months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offer on the table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lets us hand the doctor an easy monthly payment — and removes our wait for cash.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A7F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31089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now, not later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38404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PulmOne is paid in full within days of the sale instead of waiting months for the practice to pay.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194560"/>
            <a:ext cx="777240" cy="777240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doctor pays monthly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picks a comfortable 12, 24 or 36-month payment — an easier yes than one large invoice.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194560"/>
            <a:ext cx="777240" cy="777240"/>
          </a:xfrm>
          <a:prstGeom prst="ellipse">
            <a:avLst/>
          </a:prstGeom>
          <a:solidFill>
            <a:srgbClr val="0E7C9D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94192" y="310896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NewLane carries the risk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38404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funds the deal and collects the monthly payments directly from the customer, not us.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we close on price, the customer gets payment flexibility, and our money arrives now.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program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— from the doctor's yes to cash in our account.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1A7FE0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31546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the options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shows the doctor three monthly payment options. The discount is never mentioned to the customer.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2395728"/>
            <a:ext cx="566928" cy="566928"/>
          </a:xfrm>
          <a:prstGeom prst="ellipse">
            <a:avLst/>
          </a:prstGeom>
          <a:solidFill>
            <a:srgbClr val="1A7FE0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48456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PulmOne discounts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PulmOne discounts the equipment and invoices NewLane Finance for the agreed net amount.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97880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63056" y="21031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395728"/>
            <a:ext cx="566928" cy="566928"/>
          </a:xfrm>
          <a:prstGeom prst="ellipse">
            <a:avLst/>
          </a:prstGeom>
          <a:solidFill>
            <a:srgbClr val="0F9D5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55664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19088" y="31546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NewLane funds us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9088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pays PulmOne in full — up front — instead of waiting on the practice.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05088" y="3200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970264" y="21031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872" y="2395728"/>
            <a:ext cx="566928" cy="566928"/>
          </a:xfrm>
          <a:prstGeom prst="ellipse">
            <a:avLst/>
          </a:prstGeom>
          <a:solidFill>
            <a:srgbClr val="0E7C9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62872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26296" y="31546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NewLane collects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26296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collects the monthly payment directly from the customer for the full term.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BFE6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buys the receivable from us. We trade a small discount for getting paid immediately and removing collection risk.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options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 </a:t>
            </a:r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$39,000</a:t>
            </a:r>
            <a:pPr indent="0" marL="0">
              <a:buNone/>
            </a:pPr>
            <a:r>
              <a:rPr lang="en-US" sz="15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system, plus tax. Customer payments are exact figures quoted by NewLane.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651760"/>
                <a:gridCol w="301752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pays / 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PulmOne invoices NewLane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discount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7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$3,285.14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9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$37,916.24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$1,083.76  (2.78%)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months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7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$1,676.09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9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$37,341.04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$1,658.96  (4.25%)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months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7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$1,151.26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9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$37,147.57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$1,852.43  (4.75%)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this way:  </a:t>
            </a:r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 term, the lower the doctor's monthly payment — and the larger the discount NewLane takes from our invoice. Shorter term = more cash to PulmOne.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6E8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Internal only.  </a:t>
            </a:r>
            <a:pPr indent="0" marL="0">
              <a:buNone/>
            </a:pPr>
            <a:r>
              <a:rPr lang="en-US" sz="13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sees only the monthly payment. The discount and the amount we invoice NewLane stay strictly between PulmOne and NewLane.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PulmOne collects — up front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$39,000 system, here is the cash NewLane pays us immediately for each term.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$37,916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PulmOne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2.78% discount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9202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4871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$37,341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8036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PulmOne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4.25% discount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48716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$37,148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21208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PulmOne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4.75% discount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to PulmOne vs. $39,000 list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26680" y="2103120"/>
          <a:ext cx="39776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EAF7F0"/>
          </a:solidFill>
          <a:ln w="12700">
            <a:solidFill>
              <a:srgbClr val="BFE6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 we are evaluating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up roughly </a:t>
            </a:r>
            <a:pPr indent="0" marL="0">
              <a:buNone/>
            </a:pPr>
            <a:r>
              <a:rPr lang="en-US" sz="1450" b="1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$1,084 – $1,852</a:t>
            </a:r>
            <a:pPr indent="0" marL="0"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$39,000 deal. In return: cash within days instead of months, zero collection effort, and a financing pitch that helps close price-sensitive practices.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331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doctor sees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view — three clean monthly options. Nothing about the discount.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$3,285.14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39319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AF3FD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3931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1.99% APR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1750">
            <a:solidFill>
              <a:srgbClr val="1A7F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40680" y="18745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7FE0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$1,676.09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8056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39319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AF3FD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3931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2.99% APR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9244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$1,151.26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09244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39319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EAF3FD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3931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3.99% APR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"Financing provided by NewLane Finance."  —  the only line the customer needs to hear.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&amp; considerations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read before we commit.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BFE6C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Why it helps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full up front — cash flow improves immediately.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assumes collection risk, not PulmOne.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payment is an easier close than a $39K invoice.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price-sensitive and smaller practices.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modest (≈2.8–4.8%) vs. the cash-now benefit.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F0D8A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 Worth confirming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discount scale cleanly to other price points?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rate card and any approval / funding fees.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approval terms and customer qualification.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equipment during the term / on default?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handling — payments are on price plus tax.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field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move forward, the team can use this today — no spreadsheets.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1A7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calculator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customer-facing web app. Enter any price, instantly show the doctor all three monthly payments. Works on phone, tablet or laptop; print or save to leave behind.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86000"/>
            <a:ext cx="914400" cy="914400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37960" y="3383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into the Toolkit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a new "Financing" tab inside the MiniBox Sales Toolkit (v3.7) every rep already carries — alongside ROI, billing and forms.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by design — the calculator shows monthly payments only; internal discount figures never appear.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937760" cy="4937760"/>
          </a:xfrm>
          <a:prstGeom prst="ellipse">
            <a:avLst/>
          </a:prstGeom>
          <a:solidFill>
            <a:srgbClr val="1331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way to test financing as a closing tool.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13315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1A7FE0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22585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651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NewLane on a handful of live, price-sensitive deals and measure close rate.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13315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630168"/>
            <a:ext cx="566928" cy="566928"/>
          </a:xfrm>
          <a:prstGeom prst="ellipse">
            <a:avLst/>
          </a:prstGeom>
          <a:solidFill>
            <a:srgbClr val="0F9D58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630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4930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rate card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8862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discount % across price points, fees, ownership and credit terms in writing.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7955280" cy="1051560"/>
          </a:xfrm>
          <a:prstGeom prst="roundRect">
            <a:avLst>
              <a:gd name="adj" fmla="val 6957"/>
            </a:avLst>
          </a:prstGeom>
          <a:solidFill>
            <a:srgbClr val="13315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864608"/>
            <a:ext cx="566928" cy="566928"/>
          </a:xfrm>
          <a:prstGeom prst="ellipse">
            <a:avLst/>
          </a:prstGeom>
          <a:solidFill>
            <a:srgbClr val="0E7C9D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864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472744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joint call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1206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offered a call with our team to walk through the program and answer questions.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214884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Carlos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3703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to host a joint call with PulmOne leadership at our convenience.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0" y="5349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Erik Bernard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NewLane Finance Program  ·  Internal review  ·  PulmOne / MiniBox PFT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NewLane Finance Program — MiniBox PFT</dc:title>
  <dc:subject>PptxGenJS Presentation</dc:subject>
  <dc:creator>Erik Bernard</dc:creator>
  <cp:lastModifiedBy>Erik Bernard</cp:lastModifiedBy>
  <cp:revision>1</cp:revision>
  <dcterms:created xsi:type="dcterms:W3CDTF">2026-06-28T16:24:34Z</dcterms:created>
  <dcterms:modified xsi:type="dcterms:W3CDTF">2026-06-28T16:24:34Z</dcterms:modified>
</cp:coreProperties>
</file>